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1.svg" ContentType="image/svg+xml"/>
  <Override PartName="/ppt/media/image33.svg" ContentType="image/svg+xml"/>
  <Override PartName="/ppt/media/image35.svg" ContentType="image/svg+xml"/>
  <Override PartName="/ppt/media/image38.svg" ContentType="image/svg+xml"/>
  <Override PartName="/ppt/media/image4.svg" ContentType="image/svg+xml"/>
  <Override PartName="/ppt/media/image40.svg" ContentType="image/svg+xml"/>
  <Override PartName="/ppt/media/image42.svg" ContentType="image/svg+xml"/>
  <Override PartName="/ppt/media/image45.svg" ContentType="image/svg+xml"/>
  <Override PartName="/ppt/media/image47.svg" ContentType="image/svg+xml"/>
  <Override PartName="/ppt/media/image50.svg" ContentType="image/svg+xml"/>
  <Override PartName="/ppt/media/image52.svg" ContentType="image/svg+xml"/>
  <Override PartName="/ppt/media/image54.svg" ContentType="image/svg+xml"/>
  <Override PartName="/ppt/media/image57.svg" ContentType="image/svg+xml"/>
  <Override PartName="/ppt/media/image59.svg" ContentType="image/svg+xml"/>
  <Override PartName="/ppt/media/image6.svg" ContentType="image/svg+xml"/>
  <Override PartName="/ppt/media/image62.svg" ContentType="image/svg+xml"/>
  <Override PartName="/ppt/media/image64.svg" ContentType="image/svg+xml"/>
  <Override PartName="/ppt/media/image67.svg" ContentType="image/svg+xml"/>
  <Override PartName="/ppt/media/image69.svg" ContentType="image/svg+xml"/>
  <Override PartName="/ppt/media/image71.svg" ContentType="image/svg+xml"/>
  <Override PartName="/ppt/media/image73.svg" ContentType="image/svg+xml"/>
  <Override PartName="/ppt/media/image75.svg" ContentType="image/svg+xml"/>
  <Override PartName="/ppt/media/image77.svg" ContentType="image/svg+xml"/>
  <Override PartName="/ppt/media/image79.svg" ContentType="image/svg+xml"/>
  <Override PartName="/ppt/media/image8.svg" ContentType="image/svg+xml"/>
  <Override PartName="/ppt/media/image81.svg" ContentType="image/svg+xml"/>
  <Override PartName="/ppt/media/image8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40" userDrawn="1">
          <p15:clr>
            <a:srgbClr val="747775"/>
          </p15:clr>
        </p15:guide>
        <p15:guide id="2" pos="2896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40"/>
        <p:guide pos="2896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我是今天的报告人常云举，非常荣幸能在这里向大家深度解析OpenClaw这款强大的个人AI助手。今天，我们将一起探索这款现象级开源AI项目的前世今生，从它的起源、安装部署，到实际应用和未来的商业化路径，全方位解读“全民养虾”热潮背后的技术与商业逻辑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分享将分为四个部分。首先，我们将回顾OpenClaw的发展历程，了解它如何从一个周末项目演变为全球现象。接着，我们会手把手教大家在Windows系统上进行本地部署。然后，我们将展示OpenClaw在不同场景下的实际应用案例。最后，我们将探讨围绕OpenClaw的商业化可能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现在，让我们进入第一部分，一起探寻OpenClaw的起源故事，了解它如何从一行代码开始，引爆全球的“全民养虾”热潮。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OpenClaw的故事始于一个简单的想法。2025年11月，开发者Peter用一个周末的时间写出了初代版本。经历了两次更名后，它在2026年初正式定名为OpenClaw，并以惊人的速度在全球范围内传播，创造了开源项目增长的奇迹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要理解OpenClaw，我们需要了解几个关键术语。它本质上是一个AI智能体，强调本地部署以保证隐私，拥有丰富的插件生态来扩展功能，并支持多模态交互，让操作更加自然。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我们看另外三个核心术语。技能，就像手机的应用商店，为AI助手提供各种扩展功能；工具，是技能提供的具体功能接口，好比工具箱里的工具；而记忆层，则像一本日记本，帮助AI助手记住你的偏好和历史对话，让交互更加智能和个性化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“全民养虾”是近期最火的科技话题之一。这个梗来源于OpenClaw的龙虾Logo，用户将使用这个AI工具的过程戏称为“养虾”。这背后，是人们对AI能够真正“动手干活”的强烈渴望，也是一场全民参与的技术狂欢。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了解了背景之后，接下来我们进入实操环节。第二部分，我们将重点讲解如何在Windows系统上进行OpenClaw的本地部署，手把手教你搭建自己的“虾池”。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在开始部署前，我们需要确保电脑满足基本要求。首先，你的系统必须是Windows 10或11，并且需要安装Node.js 22以上版本。硬件方面，建议至少4GB内存。这些准备工作将确保后续安装过程的顺利进行。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Windows部署主要分为三步：首先安装好Node.js环境，然后执行官方的一键安装脚本，最后通过初始化命令完成配置。整个过程非常简单，即使是技术小白也能轻松完成。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除了本地部署，也可以选择云端部署。本地部署的优势在于数据隐私和一次性投入，但对硬件有要求；云端部署则更省心，性能稳定，但需要持续付费，且数据隐私性相对较弱。大家可以根据自己的需求和偏好来选择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成功“养虾”之后，它能为我们带来哪些实际价值呢？第三部分，我们将探索OpenClaw在不同场景下的应用，看看它如何成为我们工作和生活中的得力助手。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办公自动化方面，OpenClaw能做的远不止这些。它可以帮你自动生成各种业务报告，进行复杂的数据处理和可视化分析，甚至能智能管理你的邮件和日程，自动整理电脑文件，还能在会议中实时生成纪要，让你彻底告别繁琐的重复性工作，将精力聚焦于更有价值的决策和创新上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内容创作领域，OpenClaw是你的超级助理。它能帮你快速抓住热点、生成创意选题，无论是写文章、做脚本还是处理素材，都能轻松搞定。更重要的是，它支持多平台一键分发和内容优化，让你的创作效率和传播效果都得到极大提升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对于开发者而言，OpenClaw是一位强大的编程伙伴。它不仅能根据你的想法自动生成代码，还能帮你调试、审查和优化代码，自动生成文档，甚至能自动化整个开发流程。同时，它还能作为你的技术顾问，随时解答你的编程疑问，让开发工作变得更加高效和愉悦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为了让大家更直观地感受OpenClaw在内容创作上的强大能力，我们来看一个实战演示。通过安装 wechat-mp-publisher 这个技能，你只需输入一句简单的指令，比如“帮我写一篇关于AI趋势的文章并发布”，OpenClaw就能自动完成内容创作、排版，并直接发布到你的公众号。整个过程一气呵成，极大地提升了内容发布的效率，让你从繁琐的操作中解放出来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再次感谢大家的聆听！如果大家有任何问题或想法，欢迎通过屏幕上的联系方式与我交流。谢谢大家！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svg"/><Relationship Id="rId8" Type="http://schemas.openxmlformats.org/officeDocument/2006/relationships/image" Target="../media/image9.png"/><Relationship Id="rId7" Type="http://schemas.openxmlformats.org/officeDocument/2006/relationships/image" Target="../media/image8.svg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1" Type="http://schemas.openxmlformats.org/officeDocument/2006/relationships/notesSlide" Target="../notesSlides/notesSlide2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svg"/><Relationship Id="rId8" Type="http://schemas.openxmlformats.org/officeDocument/2006/relationships/image" Target="../media/image9.png"/><Relationship Id="rId7" Type="http://schemas.openxmlformats.org/officeDocument/2006/relationships/image" Target="../media/image16.svg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3" Type="http://schemas.openxmlformats.org/officeDocument/2006/relationships/notesSlide" Target="../notesSlides/notesSlide4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18.svg"/><Relationship Id="rId10" Type="http://schemas.openxmlformats.org/officeDocument/2006/relationships/image" Target="../media/image17.png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7.svg"/><Relationship Id="rId8" Type="http://schemas.openxmlformats.org/officeDocument/2006/relationships/image" Target="../media/image26.png"/><Relationship Id="rId7" Type="http://schemas.openxmlformats.org/officeDocument/2006/relationships/image" Target="../media/image25.svg"/><Relationship Id="rId6" Type="http://schemas.openxmlformats.org/officeDocument/2006/relationships/image" Target="../media/image24.png"/><Relationship Id="rId5" Type="http://schemas.openxmlformats.org/officeDocument/2006/relationships/image" Target="../media/image23.svg"/><Relationship Id="rId4" Type="http://schemas.openxmlformats.org/officeDocument/2006/relationships/image" Target="../media/image22.png"/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1" Type="http://schemas.openxmlformats.org/officeDocument/2006/relationships/notesSlide" Target="../notesSlides/notesSlide5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19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6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31.svg"/><Relationship Id="rId6" Type="http://schemas.openxmlformats.org/officeDocument/2006/relationships/image" Target="../media/image30.png"/><Relationship Id="rId5" Type="http://schemas.openxmlformats.org/officeDocument/2006/relationships/image" Target="../media/image29.svg"/><Relationship Id="rId4" Type="http://schemas.openxmlformats.org/officeDocument/2006/relationships/image" Target="../media/image28.png"/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image" Target="../media/image19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36.jpeg"/><Relationship Id="rId7" Type="http://schemas.openxmlformats.org/officeDocument/2006/relationships/image" Target="../media/image23.svg"/><Relationship Id="rId6" Type="http://schemas.openxmlformats.org/officeDocument/2006/relationships/image" Target="../media/image22.png"/><Relationship Id="rId5" Type="http://schemas.openxmlformats.org/officeDocument/2006/relationships/image" Target="../media/image35.svg"/><Relationship Id="rId4" Type="http://schemas.openxmlformats.org/officeDocument/2006/relationships/image" Target="../media/image34.png"/><Relationship Id="rId3" Type="http://schemas.openxmlformats.org/officeDocument/2006/relationships/image" Target="../media/image33.svg"/><Relationship Id="rId2" Type="http://schemas.openxmlformats.org/officeDocument/2006/relationships/image" Target="../media/image32.png"/><Relationship Id="rId10" Type="http://schemas.openxmlformats.org/officeDocument/2006/relationships/notesSlide" Target="../notesSlides/notesSlide7.xml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42.svg"/><Relationship Id="rId8" Type="http://schemas.openxmlformats.org/officeDocument/2006/relationships/image" Target="../media/image41.png"/><Relationship Id="rId7" Type="http://schemas.openxmlformats.org/officeDocument/2006/relationships/image" Target="../media/image12.svg"/><Relationship Id="rId6" Type="http://schemas.openxmlformats.org/officeDocument/2006/relationships/image" Target="../media/image11.png"/><Relationship Id="rId5" Type="http://schemas.openxmlformats.org/officeDocument/2006/relationships/image" Target="../media/image40.svg"/><Relationship Id="rId4" Type="http://schemas.openxmlformats.org/officeDocument/2006/relationships/image" Target="../media/image39.png"/><Relationship Id="rId3" Type="http://schemas.openxmlformats.org/officeDocument/2006/relationships/image" Target="../media/image38.svg"/><Relationship Id="rId2" Type="http://schemas.openxmlformats.org/officeDocument/2006/relationships/image" Target="../media/image37.png"/><Relationship Id="rId12" Type="http://schemas.openxmlformats.org/officeDocument/2006/relationships/notesSlide" Target="../notesSlides/notesSlide9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43.png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0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6.svg"/><Relationship Id="rId6" Type="http://schemas.openxmlformats.org/officeDocument/2006/relationships/image" Target="../media/image5.png"/><Relationship Id="rId5" Type="http://schemas.openxmlformats.org/officeDocument/2006/relationships/image" Target="../media/image47.svg"/><Relationship Id="rId4" Type="http://schemas.openxmlformats.org/officeDocument/2006/relationships/image" Target="../media/image46.png"/><Relationship Id="rId3" Type="http://schemas.openxmlformats.org/officeDocument/2006/relationships/image" Target="../media/image45.svg"/><Relationship Id="rId2" Type="http://schemas.openxmlformats.org/officeDocument/2006/relationships/image" Target="../media/image44.png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48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55.jpeg"/><Relationship Id="rId7" Type="http://schemas.openxmlformats.org/officeDocument/2006/relationships/image" Target="../media/image54.svg"/><Relationship Id="rId6" Type="http://schemas.openxmlformats.org/officeDocument/2006/relationships/image" Target="../media/image53.png"/><Relationship Id="rId5" Type="http://schemas.openxmlformats.org/officeDocument/2006/relationships/image" Target="../media/image52.svg"/><Relationship Id="rId4" Type="http://schemas.openxmlformats.org/officeDocument/2006/relationships/image" Target="../media/image51.png"/><Relationship Id="rId3" Type="http://schemas.openxmlformats.org/officeDocument/2006/relationships/image" Target="../media/image50.svg"/><Relationship Id="rId2" Type="http://schemas.openxmlformats.org/officeDocument/2006/relationships/image" Target="../media/image49.png"/><Relationship Id="rId10" Type="http://schemas.openxmlformats.org/officeDocument/2006/relationships/notesSlide" Target="../notesSlides/notesSlide13.xml"/><Relationship Id="rId1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60.jpeg"/><Relationship Id="rId7" Type="http://schemas.openxmlformats.org/officeDocument/2006/relationships/image" Target="../media/image59.svg"/><Relationship Id="rId6" Type="http://schemas.openxmlformats.org/officeDocument/2006/relationships/image" Target="../media/image58.png"/><Relationship Id="rId5" Type="http://schemas.openxmlformats.org/officeDocument/2006/relationships/image" Target="../media/image57.svg"/><Relationship Id="rId4" Type="http://schemas.openxmlformats.org/officeDocument/2006/relationships/image" Target="../media/image56.png"/><Relationship Id="rId3" Type="http://schemas.openxmlformats.org/officeDocument/2006/relationships/image" Target="../media/image52.svg"/><Relationship Id="rId2" Type="http://schemas.openxmlformats.org/officeDocument/2006/relationships/image" Target="../media/image51.png"/><Relationship Id="rId10" Type="http://schemas.openxmlformats.org/officeDocument/2006/relationships/notesSlide" Target="../notesSlides/notesSlide14.xml"/><Relationship Id="rId1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65.jpeg"/><Relationship Id="rId7" Type="http://schemas.openxmlformats.org/officeDocument/2006/relationships/image" Target="../media/image50.svg"/><Relationship Id="rId6" Type="http://schemas.openxmlformats.org/officeDocument/2006/relationships/image" Target="../media/image49.png"/><Relationship Id="rId5" Type="http://schemas.openxmlformats.org/officeDocument/2006/relationships/image" Target="../media/image64.svg"/><Relationship Id="rId4" Type="http://schemas.openxmlformats.org/officeDocument/2006/relationships/image" Target="../media/image63.png"/><Relationship Id="rId3" Type="http://schemas.openxmlformats.org/officeDocument/2006/relationships/image" Target="../media/image62.svg"/><Relationship Id="rId2" Type="http://schemas.openxmlformats.org/officeDocument/2006/relationships/image" Target="../media/image61.png"/><Relationship Id="rId10" Type="http://schemas.openxmlformats.org/officeDocument/2006/relationships/notesSlide" Target="../notesSlides/notesSlide15.xml"/><Relationship Id="rId1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73.svg"/><Relationship Id="rId8" Type="http://schemas.openxmlformats.org/officeDocument/2006/relationships/image" Target="../media/image72.png"/><Relationship Id="rId7" Type="http://schemas.openxmlformats.org/officeDocument/2006/relationships/image" Target="../media/image71.svg"/><Relationship Id="rId6" Type="http://schemas.openxmlformats.org/officeDocument/2006/relationships/image" Target="../media/image70.png"/><Relationship Id="rId5" Type="http://schemas.openxmlformats.org/officeDocument/2006/relationships/image" Target="../media/image69.svg"/><Relationship Id="rId4" Type="http://schemas.openxmlformats.org/officeDocument/2006/relationships/image" Target="../media/image68.png"/><Relationship Id="rId3" Type="http://schemas.openxmlformats.org/officeDocument/2006/relationships/image" Target="../media/image67.svg"/><Relationship Id="rId2" Type="http://schemas.openxmlformats.org/officeDocument/2006/relationships/image" Target="../media/image66.png"/><Relationship Id="rId15" Type="http://schemas.openxmlformats.org/officeDocument/2006/relationships/notesSlide" Target="../notesSlides/notesSlide16.xml"/><Relationship Id="rId14" Type="http://schemas.openxmlformats.org/officeDocument/2006/relationships/slideLayout" Target="../slideLayouts/slideLayout12.xml"/><Relationship Id="rId13" Type="http://schemas.openxmlformats.org/officeDocument/2006/relationships/image" Target="../media/image77.svg"/><Relationship Id="rId12" Type="http://schemas.openxmlformats.org/officeDocument/2006/relationships/image" Target="../media/image76.png"/><Relationship Id="rId11" Type="http://schemas.openxmlformats.org/officeDocument/2006/relationships/image" Target="../media/image75.svg"/><Relationship Id="rId10" Type="http://schemas.openxmlformats.org/officeDocument/2006/relationships/image" Target="../media/image74.png"/><Relationship Id="rId1" Type="http://schemas.openxmlformats.org/officeDocument/2006/relationships/image" Target="../media/image19.jpe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85.png"/><Relationship Id="rId8" Type="http://schemas.openxmlformats.org/officeDocument/2006/relationships/image" Target="../media/image84.png"/><Relationship Id="rId7" Type="http://schemas.openxmlformats.org/officeDocument/2006/relationships/image" Target="../media/image83.svg"/><Relationship Id="rId6" Type="http://schemas.openxmlformats.org/officeDocument/2006/relationships/image" Target="../media/image82.png"/><Relationship Id="rId5" Type="http://schemas.openxmlformats.org/officeDocument/2006/relationships/image" Target="../media/image81.svg"/><Relationship Id="rId4" Type="http://schemas.openxmlformats.org/officeDocument/2006/relationships/image" Target="../media/image80.png"/><Relationship Id="rId3" Type="http://schemas.openxmlformats.org/officeDocument/2006/relationships/image" Target="../media/image79.svg"/><Relationship Id="rId2" Type="http://schemas.openxmlformats.org/officeDocument/2006/relationships/image" Target="../media/image78.png"/><Relationship Id="rId11" Type="http://schemas.openxmlformats.org/officeDocument/2006/relationships/notesSlide" Target="../notesSlides/notesSlide17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1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5715000" y="2032000"/>
            <a:ext cx="762000" cy="508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cap="flat" cmpd="sng">
            <a:solidFill>
              <a:srgbClr val="00ACE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508000" y="2413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OpenClaw</a:t>
            </a:r>
            <a:r>
              <a:rPr lang="zh-CN" altLang="en-US" sz="36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安装教程与应用观察</a:t>
            </a:r>
            <a:endParaRPr lang="zh-CN" altLang="en-US" sz="3600" b="1" i="0" u="none" strike="noStrike">
              <a:solidFill>
                <a:srgbClr val="00B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4191000" y="3302000"/>
            <a:ext cx="3810000" cy="25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FFA500">
                  <a:alpha val="0"/>
                </a:srgbClr>
              </a:gs>
              <a:gs pos="50000">
                <a:srgbClr val="FFA500">
                  <a:alpha val="100000"/>
                </a:srgbClr>
              </a:gs>
              <a:gs pos="100000">
                <a:srgbClr val="FFA500">
                  <a:alpha val="0"/>
                </a:srgbClr>
              </a:gs>
            </a:gsLst>
            <a:lin ang="0"/>
          </a:gradFill>
          <a:ln cap="flat" cmpd="sng">
            <a:gradFill rotWithShape="1">
              <a:gsLst>
                <a:gs pos="0">
                  <a:srgbClr val="E69400">
                    <a:alpha val="0"/>
                  </a:srgbClr>
                </a:gs>
                <a:gs pos="50000">
                  <a:srgbClr val="E69400">
                    <a:alpha val="100000"/>
                  </a:srgbClr>
                </a:gs>
                <a:gs pos="100000">
                  <a:srgbClr val="E69400">
                    <a:alpha val="0"/>
                  </a:srgbClr>
                </a:gs>
              </a:gsLst>
              <a:lin ang="0"/>
            </a:gra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508000" y="3556000"/>
            <a:ext cx="1117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解锁个人AI助手的无限潜能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508000" y="4318000"/>
            <a:ext cx="1117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报告人：常云举 | 日期：2026年03月21日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0" y="58420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5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OPEN SOURCE · COMMERCIALIZATION · FUTURE TRENDS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381000" y="381000"/>
            <a:ext cx="254000" cy="2540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11557000" y="6223000"/>
            <a:ext cx="254000" cy="254000"/>
          </a:xfrm>
          <a:prstGeom prst="roundRect">
            <a:avLst>
              <a:gd name="adj" fmla="val 0"/>
            </a:avLst>
          </a:prstGeom>
          <a:solidFill>
            <a:srgbClr val="FFA5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D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762000"/>
            <a:ext cx="101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目录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460500"/>
            <a:ext cx="762000" cy="50800"/>
          </a:xfrm>
          <a:prstGeom prst="roundRect">
            <a:avLst>
              <a:gd name="adj" fmla="val 0"/>
            </a:avLst>
          </a:prstGeom>
          <a:solidFill>
            <a:srgbClr val="FFA5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1905000"/>
            <a:ext cx="5080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2733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87500" y="2032000"/>
            <a:ext cx="406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A5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前世今生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OpenClaw的起源与生态发展历程</a:t>
            </a:r>
            <a:endParaRPr lang="en-US" sz="1400" b="0" i="0" u="none" strike="noStrike">
              <a:solidFill>
                <a:srgbClr val="FFFFFF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350000" y="1905000"/>
            <a:ext cx="5080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04000" y="22733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175500" y="2032000"/>
            <a:ext cx="406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A5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安装养殖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Windows环境下的本地部署实战指南</a:t>
            </a:r>
            <a:endParaRPr lang="en-US" sz="1400" b="0" i="0" u="none" strike="noStrike">
              <a:solidFill>
                <a:srgbClr val="FFFFFF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762000" y="3302000"/>
            <a:ext cx="5080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36703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587500" y="3429000"/>
            <a:ext cx="406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A5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实际应用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解锁多元场景下的技术价值与潜力</a:t>
            </a:r>
            <a:endParaRPr lang="en-US" sz="1400" b="0" i="0" u="none" strike="noStrike">
              <a:solidFill>
                <a:srgbClr val="FFFFFF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6350000" y="3302000"/>
            <a:ext cx="5080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04000" y="36703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7175500" y="3429000"/>
            <a:ext cx="406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A5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商业变现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探索基于OpenClaw的盈利新路径</a:t>
            </a:r>
            <a:endParaRPr lang="en-US" sz="1400" b="0" i="0" u="none" strike="noStrike">
              <a:solidFill>
                <a:srgbClr val="FFFFFF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0" y="60960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4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OpenClaw 技术分享与实践 · 2026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1E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12192000" cy="508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0" y="1905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A500"/>
                </a:solidFill>
                <a:latin typeface="DIN Alternate"/>
                <a:ea typeface="DIN Alternate"/>
                <a:cs typeface="DIN Alternate"/>
                <a:sym typeface="DIN Alternate"/>
              </a:rPr>
              <a:t>01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08000" y="2667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前世今生：OpenClaw的起源与生态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715000" y="3556000"/>
            <a:ext cx="762000" cy="508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508000" y="3810000"/>
            <a:ext cx="1117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从代码到社区，解密‘全民养虾’热潮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0" y="6705600"/>
            <a:ext cx="12192000" cy="152400"/>
          </a:xfrm>
          <a:prstGeom prst="roundRect">
            <a:avLst>
              <a:gd name="adj" fmla="val 0"/>
            </a:avLst>
          </a:prstGeom>
          <a:solidFill>
            <a:srgbClr val="00B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4826000" y="6705600"/>
            <a:ext cx="2540000" cy="1524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C192D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90551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发展历史：从周末项目到全球现象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5390177">
            <a:off x="-698500" y="3867159"/>
            <a:ext cx="4445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BFFF">
                <a:alpha val="3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71600" y="16510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905000" y="1587500"/>
            <a:ext cx="939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A5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2025年11月 · 起源：Clawdbot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DCDC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奥地利开发者Peter Steinberger在周末开发出初代版本，连接聊天工具与本地电脑的小项目。</a:t>
            </a:r>
            <a:endParaRPr lang="en-US" sz="1400" b="0" i="0" u="none" strike="noStrike">
              <a:solidFill>
                <a:srgbClr val="DCDCD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71600" y="25400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905000" y="2476500"/>
            <a:ext cx="939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A5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2026年1月 · 蜕变：更名Moltbot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DCDC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因商标问题更名，寓意“蜕壳”成长，同步完成核心架构的重构升级。</a:t>
            </a:r>
            <a:endParaRPr lang="en-US" sz="1400" b="0" i="0" u="none" strike="noStrike">
              <a:solidFill>
                <a:srgbClr val="DCDCD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71600" y="34290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905000" y="3365500"/>
            <a:ext cx="939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A5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2026年1月30日 · 定型：OpenClaw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DCDC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正式定名，融合“开源(Open)”与“执行(Claw)”理念，品牌形象正式确立。</a:t>
            </a:r>
            <a:endParaRPr lang="en-US" sz="1400" b="0" i="0" u="none" strike="noStrike">
              <a:solidFill>
                <a:srgbClr val="DCDCD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371600" y="43180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905000" y="4254500"/>
            <a:ext cx="939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A5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2026年2月 · 爆发：指数级增长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DCDC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GitHub星标数迅速突破20万，成为史上增长最快的开源项目之一。</a:t>
            </a:r>
            <a:endParaRPr lang="en-US" sz="1400" b="0" i="0" u="none" strike="noStrike">
              <a:solidFill>
                <a:srgbClr val="DCDCD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371600" y="52070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905000" y="5143500"/>
            <a:ext cx="939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A5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至今 · 生态：全球百万实例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DCDC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全球独立部署实例超百万，形成庞大的开发者生态和独特的社区文化。</a:t>
            </a:r>
            <a:endParaRPr lang="en-US" sz="1400" b="0" i="0" u="none" strike="noStrike">
              <a:solidFill>
                <a:srgbClr val="DCDCD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90551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核心术语解析（一）：基础架构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5080000" cy="2540000"/>
          </a:xfrm>
          <a:prstGeom prst="roundRect">
            <a:avLst>
              <a:gd name="adj" fmla="val 50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651000"/>
            <a:ext cx="508000" cy="508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651000" y="17145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网关 (Gateway)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651000" y="2159000"/>
            <a:ext cx="3810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OpenClaw的核心守护进程，负责消息路由、会话管理和节点协调。</a:t>
            </a:r>
            <a:endParaRPr lang="en-US" sz="1100"/>
          </a:p>
          <a:p>
            <a:pPr indent="0" algn="l">
              <a:lnSpc>
                <a:spcPct val="108000"/>
              </a:lnSpc>
            </a:pPr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FFA5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生活化类比：如同一个智能交通枢纽，负责调度和指挥所有信息的流转。</a:t>
            </a:r>
            <a:endParaRPr lang="en-US" sz="1200" b="0" i="0" u="none" strike="noStrike">
              <a:solidFill>
                <a:srgbClr val="FFA5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350000" y="1397000"/>
            <a:ext cx="5080000" cy="2540000"/>
          </a:xfrm>
          <a:prstGeom prst="roundRect">
            <a:avLst>
              <a:gd name="adj" fmla="val 50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04000" y="1651000"/>
            <a:ext cx="508000" cy="508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239000" y="17145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代理 / 智能体 (Agent)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239000" y="2159000"/>
            <a:ext cx="3810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执行具体任务的AI实体，是OpenClaw中完成任务的基本单元。框架本身定位为“AI智能体框架”。</a:t>
            </a:r>
            <a:endParaRPr lang="en-US" sz="1100"/>
          </a:p>
          <a:p>
            <a:pPr indent="0" algn="l">
              <a:lnSpc>
                <a:spcPct val="108000"/>
              </a:lnSpc>
            </a:pPr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FFA5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生活化类比：就像公司里的员工，接收任务并执行具体操作。</a:t>
            </a:r>
            <a:endParaRPr lang="en-US" sz="1200" b="0" i="0" u="none" strike="noStrike">
              <a:solidFill>
                <a:srgbClr val="FFA5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62000" y="4191000"/>
            <a:ext cx="5080000" cy="2540000"/>
          </a:xfrm>
          <a:prstGeom prst="roundRect">
            <a:avLst>
              <a:gd name="adj" fmla="val 50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4445000"/>
            <a:ext cx="508000" cy="508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651000" y="45085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会话 (Session)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651000" y="4953000"/>
            <a:ext cx="3810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Agent与用户的一次交互上下文，通过唯一的sessionKey进行标识和管理。</a:t>
            </a:r>
            <a:endParaRPr lang="en-US" sz="1100"/>
          </a:p>
          <a:p>
            <a:pPr indent="0" algn="l">
              <a:lnSpc>
                <a:spcPct val="108000"/>
              </a:lnSpc>
            </a:pPr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FFA5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生活化类比：相当于你和朋友的一次完整对话，从开始到结束的所有内容都被记录下来。</a:t>
            </a:r>
            <a:endParaRPr lang="en-US" sz="1200" b="0" i="0" u="none" strike="noStrike">
              <a:solidFill>
                <a:srgbClr val="FFA5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6350000" y="4191000"/>
            <a:ext cx="5080000" cy="2540000"/>
          </a:xfrm>
          <a:prstGeom prst="roundRect">
            <a:avLst>
              <a:gd name="adj" fmla="val 50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04000" y="4445000"/>
            <a:ext cx="508000" cy="5080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7239000" y="45085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节点 (Node)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239000" y="4953000"/>
            <a:ext cx="3810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连接到网关、提供具体能力的主机或服务。节点向网关注册其提供的“能力”和“命令”。</a:t>
            </a:r>
            <a:endParaRPr lang="en-US" sz="1100"/>
          </a:p>
          <a:p>
            <a:pPr indent="0" algn="l">
              <a:lnSpc>
                <a:spcPct val="108000"/>
              </a:lnSpc>
            </a:pPr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FFA5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生活化类比：像是拥有不同专业技能的专家，向枢纽（网关）报到，随时准备提供帮助。</a:t>
            </a:r>
            <a:endParaRPr lang="en-US" sz="1200" b="0" i="0" u="none" strike="noStrike">
              <a:solidFill>
                <a:srgbClr val="FFA5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016000"/>
            <a:ext cx="7048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核心术语解析（二）：功能与记忆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3302000" cy="2921000"/>
          </a:xfrm>
          <a:prstGeom prst="roundRect">
            <a:avLst>
              <a:gd name="adj" fmla="val 4347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2860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22606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技能 (Skill)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27940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E0E0E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可插拔的功能扩展模块，是OpenClaw生态的核心。通过安装不同技能赋予AI代理处理特定任务的能力。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4191000"/>
            <a:ext cx="2794000" cy="508000"/>
          </a:xfrm>
          <a:prstGeom prst="roundRect">
            <a:avLst>
              <a:gd name="adj" fmla="val 12500"/>
            </a:avLst>
          </a:prstGeom>
          <a:solidFill>
            <a:srgbClr val="FFA500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143000" y="42545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A5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类比：手机应用商店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445000" y="2032000"/>
            <a:ext cx="3302000" cy="2921000"/>
          </a:xfrm>
          <a:prstGeom prst="roundRect">
            <a:avLst>
              <a:gd name="adj" fmla="val 4347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9000" y="22860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207000" y="22606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工具 (Tool)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699000" y="27940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E0E0E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Agent在执行任务时可以调用的具体功能接口，通常由技能或节点提供，用于完成具体操作。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699000" y="4191000"/>
            <a:ext cx="2794000" cy="508000"/>
          </a:xfrm>
          <a:prstGeom prst="roundRect">
            <a:avLst>
              <a:gd name="adj" fmla="val 12500"/>
            </a:avLst>
          </a:prstGeom>
          <a:solidFill>
            <a:srgbClr val="FFA500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4826000" y="42545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A5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类比：工具箱里的螺丝刀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128000" y="2032000"/>
            <a:ext cx="3302000" cy="2921000"/>
          </a:xfrm>
          <a:prstGeom prst="roundRect">
            <a:avLst>
              <a:gd name="adj" fmla="val 4347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82000" y="22860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8890000" y="22606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记忆层 (memU)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382000" y="27940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E0E0E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提供持久化记忆能力的组件，使AI能记住用户偏好和历史上下文，实现个性化交互。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382000" y="4191000"/>
            <a:ext cx="2794000" cy="508000"/>
          </a:xfrm>
          <a:prstGeom prst="roundRect">
            <a:avLst>
              <a:gd name="adj" fmla="val 12500"/>
            </a:avLst>
          </a:prstGeom>
          <a:solidFill>
            <a:srgbClr val="FFA500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8509000" y="42545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A5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类比：记录点滴的日记本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62000" y="5461000"/>
            <a:ext cx="10668000" cy="25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BFFF">
                  <a:alpha val="0"/>
                </a:srgbClr>
              </a:gs>
              <a:gs pos="50000">
                <a:srgbClr val="00BFFF">
                  <a:alpha val="100000"/>
                </a:srgbClr>
              </a:gs>
              <a:gs pos="100000">
                <a:srgbClr val="00BF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016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“全民养虾”热潮解析：一场技术的狂欢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6350000" cy="1079500"/>
          </a:xfrm>
          <a:prstGeom prst="roundRect">
            <a:avLst>
              <a:gd name="adj" fmla="val 11764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20955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460500" y="2032000"/>
            <a:ext cx="5461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A5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“虾”的由来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460500" y="2413000"/>
            <a:ext cx="546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6E6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OpenClaw的Logo是一只红色的龙虾，网友们便亲切地称之为“小龙虾”。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3111500"/>
            <a:ext cx="6350000" cy="1079500"/>
          </a:xfrm>
          <a:prstGeom prst="roundRect">
            <a:avLst>
              <a:gd name="adj" fmla="val 11764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33020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460500" y="3238500"/>
            <a:ext cx="5461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A5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“养虾”的含义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460500" y="3619500"/>
            <a:ext cx="546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6E6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将部署、配置、训练OpenClaw的过程，形象地比喻为“养宠物”，充满趣味性。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4318000"/>
            <a:ext cx="6350000" cy="1079500"/>
          </a:xfrm>
          <a:prstGeom prst="roundRect">
            <a:avLst>
              <a:gd name="adj" fmla="val 11764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" y="45085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460500" y="4445000"/>
            <a:ext cx="5461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A5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热潮背后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460500" y="4826000"/>
            <a:ext cx="546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6E6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不仅是一个技术梗，更反映了用户对高效、自动化工具的迫切需求，以及对AI从“对话”走向“执行”的期待。</a:t>
            </a:r>
            <a:endParaRPr lang="en-US" sz="1100"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8636000" y="2032000"/>
            <a:ext cx="2794000" cy="2794000"/>
          </a:xfrm>
          <a:prstGeom prst="roundRect">
            <a:avLst>
              <a:gd name="adj" fmla="val 9090"/>
            </a:avLst>
          </a:prstGeom>
          <a:noFill/>
          <a:ln w="38100" cap="flat" cmpd="sng">
            <a:solidFill>
              <a:srgbClr val="FFFFFF">
                <a:alpha val="100000"/>
              </a:srgbClr>
            </a:solidFill>
            <a:prstDash val="solid"/>
            <a:round/>
          </a:ln>
          <a:effectLst>
            <a:outerShdw blurRad="254000" dist="127000" dir="5400000" algn="tl" rotWithShape="0">
              <a:srgbClr val="00BFFF">
                <a:alpha val="40000"/>
              </a:srgbClr>
            </a:outerShdw>
          </a:effectLst>
        </p:spPr>
      </p:pic>
      <p:sp>
        <p:nvSpPr>
          <p:cNvPr id="18" name="AutoShape 18"/>
          <p:cNvSpPr/>
          <p:nvPr/>
        </p:nvSpPr>
        <p:spPr>
          <a:xfrm>
            <a:off x="8636000" y="4953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1" u="none" strike="noStrike">
                <a:solidFill>
                  <a:srgbClr val="B4B4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OpenClaw “小龙虾” Logo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12192000" cy="508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BFFF">
                  <a:alpha val="100000"/>
                </a:srgbClr>
              </a:gs>
              <a:gs pos="100000">
                <a:srgbClr val="FFA500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0" y="2032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 spc="400">
                <a:solidFill>
                  <a:srgbClr val="FFA5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 02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381000" y="2540000"/>
            <a:ext cx="1143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安装养殖：Windows本地部署实战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715000" y="3429000"/>
            <a:ext cx="762000" cy="508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381000" y="3683000"/>
            <a:ext cx="1143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E5E7EB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手把手教你搭建自己的“虾池”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0" y="6807200"/>
            <a:ext cx="12192000" cy="508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FFA500">
                  <a:alpha val="100000"/>
                </a:srgbClr>
              </a:gs>
              <a:gs pos="100000">
                <a:srgbClr val="00BFFF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0" y="3441700"/>
            <a:ext cx="1270000" cy="25400"/>
          </a:xfrm>
          <a:prstGeom prst="roundRect">
            <a:avLst>
              <a:gd name="adj" fmla="val 0"/>
            </a:avLst>
          </a:prstGeom>
          <a:solidFill>
            <a:srgbClr val="00BFFF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10922000" y="3441700"/>
            <a:ext cx="1270000" cy="25400"/>
          </a:xfrm>
          <a:prstGeom prst="roundRect">
            <a:avLst>
              <a:gd name="adj" fmla="val 0"/>
            </a:avLst>
          </a:prstGeom>
          <a:solidFill>
            <a:srgbClr val="00BFFF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80518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部署前准备：检查你的“虾池”环境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5080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9558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87500" y="17780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A5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操作系统要求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EBEB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Windows 10 或 Windows 11（64位专业版/企业版）</a:t>
            </a:r>
            <a:endParaRPr lang="en-US" sz="1400" b="0" i="0" u="none" strike="noStrike">
              <a:solidFill>
                <a:srgbClr val="EBEB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762000" y="2794000"/>
            <a:ext cx="5080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0988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587500" y="29210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A5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核心依赖组件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EBEB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Node.js 22.0.0 或更高版本，需配置环境变量</a:t>
            </a:r>
            <a:endParaRPr lang="en-US" sz="1400" b="0" i="0" u="none" strike="noStrike">
              <a:solidFill>
                <a:srgbClr val="EBEB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762000" y="3937000"/>
            <a:ext cx="5080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42418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587500" y="40640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A5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硬件配置建议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EBEB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推荐4GB以上内存，至少500MB可用磁盘空间</a:t>
            </a:r>
            <a:endParaRPr lang="en-US" sz="1400" b="0" i="0" u="none" strike="noStrike">
              <a:solidFill>
                <a:srgbClr val="EBEB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762000" y="5080000"/>
            <a:ext cx="5080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6000" y="53848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587500" y="52070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A5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网络连接说明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EBEB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部署时需联网下载依赖包，运行本地模型可离线使用</a:t>
            </a:r>
            <a:endParaRPr lang="en-US" sz="1400" b="0" i="0" u="none" strike="noStrike">
              <a:solidFill>
                <a:srgbClr val="EBEB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61760" y="1579245"/>
            <a:ext cx="4871720" cy="457136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B1930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016000"/>
            <a:ext cx="110744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Windows部署三步曲：轻松拥有“数字员工”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3302000" cy="2540000"/>
          </a:xfrm>
          <a:prstGeom prst="roundRect">
            <a:avLst>
              <a:gd name="adj" fmla="val 500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59000" y="2286000"/>
            <a:ext cx="508000" cy="508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889000" y="2921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A5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第一步：环境准备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89000" y="3429000"/>
            <a:ext cx="304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安装 Node.js 运行环境，并确保其已正确添加到系统环境变量中。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445000" y="2032000"/>
            <a:ext cx="3302000" cy="2540000"/>
          </a:xfrm>
          <a:prstGeom prst="roundRect">
            <a:avLst>
              <a:gd name="adj" fmla="val 500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42000" y="2286000"/>
            <a:ext cx="508000" cy="508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4572000" y="2921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A5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第二步：执行安装脚本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572000" y="3429000"/>
            <a:ext cx="304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以管理员身份打开 PowerShell，执行官方一键安装命令完成部署。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128000" y="2032000"/>
            <a:ext cx="3302000" cy="2540000"/>
          </a:xfrm>
          <a:prstGeom prst="roundRect">
            <a:avLst>
              <a:gd name="adj" fmla="val 500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0" y="2286000"/>
            <a:ext cx="508000" cy="508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8255000" y="2921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A5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第三步：初始化配置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255000" y="3429000"/>
            <a:ext cx="304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运行初始化命令，根据提示完成模型选择、端口设置等配置工作。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62000" y="4953000"/>
            <a:ext cx="10668000" cy="508000"/>
          </a:xfrm>
          <a:prstGeom prst="roundRect">
            <a:avLst>
              <a:gd name="adj" fmla="val 12500"/>
            </a:avLst>
          </a:prstGeom>
          <a:solidFill>
            <a:srgbClr val="000000">
              <a:alpha val="40000"/>
            </a:srgbClr>
          </a:solidFill>
          <a:ln w="12700" cap="flat" cmpd="sng">
            <a:solidFill>
              <a:srgbClr val="FFA500">
                <a:alpha val="5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889000" y="5016500"/>
            <a:ext cx="1041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00BFF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一键命令示例：</a:t>
            </a:r>
            <a:r>
              <a:rPr lang="en-US" sz="1400" b="0" i="0" u="none" strike="noStrike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iwr -useb https://openclaw.ai/install.ps1 | iex &amp;&amp; openclaw onboard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016000"/>
            <a:ext cx="100584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云端 vs 本地：两种“养虾”方式的对比</a:t>
            </a:r>
            <a:endParaRPr lang="en-US" sz="1100"/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762000" y="1905000"/>
          <a:ext cx="10668000" cy="33655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032000"/>
                <a:gridCol w="4318000"/>
                <a:gridCol w="4318000"/>
              </a:tblGrid>
              <a:tr h="5080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00B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对比维度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FF">
                        <a:alpha val="1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00B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本地部署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FF">
                        <a:alpha val="1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00B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云端部署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FF">
                        <a:alpha val="10000"/>
                      </a:srgbClr>
                    </a:solidFill>
                  </a:tcPr>
                </a:tc>
              </a:tr>
              <a:tr h="5715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数据隐私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50505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数据完全本地化，</a:t>
                      </a:r>
                      <a:r>
                        <a:rPr lang="en-US" sz="1400" b="1" i="0" u="none" strike="noStrike">
                          <a:solidFill>
                            <a:srgbClr val="FFA5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隐私安全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50505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数据上传至云端，</a:t>
                      </a:r>
                      <a:r>
                        <a:rPr lang="en-US" sz="1400" b="1" i="0" u="none" strike="noStrike">
                          <a:solidFill>
                            <a:srgbClr val="EB575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存在隐私风险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715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性能表现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50505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依赖本地硬件配置，受设备限制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50505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性能稳定，</a:t>
                      </a:r>
                      <a:r>
                        <a:rPr lang="en-US" sz="1400" b="1" i="0" u="none" strike="noStrike">
                          <a:solidFill>
                            <a:srgbClr val="FFA5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不受本地硬件限制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715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使用成本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A5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一次性硬件投入</a:t>
                      </a:r>
                      <a:r>
                        <a:rPr lang="en-US" sz="1400" b="0" i="0" u="none" strike="noStrike">
                          <a:solidFill>
                            <a:srgbClr val="50505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，无后续费用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50505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需要持续支付订阅费用，长期成本较高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715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维护难度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50505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需要自行维护和更新，耗时费力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50505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由服务商负责维护，</a:t>
                      </a:r>
                      <a:r>
                        <a:rPr lang="en-US" sz="1400" b="1" i="0" u="none" strike="noStrike">
                          <a:solidFill>
                            <a:srgbClr val="FFA5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省心省力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715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网络依赖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A5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可离线运行</a:t>
                      </a:r>
                      <a:r>
                        <a:rPr lang="en-US" sz="1400" b="0" i="0" u="none" strike="noStrike">
                          <a:solidFill>
                            <a:srgbClr val="50505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（本地模型）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EB575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完全依赖网络连接</a:t>
                      </a:r>
                      <a:r>
                        <a:rPr lang="en-US" sz="1400" b="0" i="0" u="none" strike="noStrike">
                          <a:solidFill>
                            <a:srgbClr val="50505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，断网不可用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AutoShape 6"/>
          <p:cNvSpPr/>
          <p:nvPr/>
        </p:nvSpPr>
        <p:spPr>
          <a:xfrm>
            <a:off x="762000" y="6096000"/>
            <a:ext cx="10668000" cy="508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BFFF">
                  <a:alpha val="100000"/>
                </a:srgbClr>
              </a:gs>
              <a:gs pos="100000">
                <a:srgbClr val="FFA500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32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2070100" y="2413000"/>
            <a:ext cx="80518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实际应用：解锁多元场景价值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34376">
            <a:off x="5461032" y="3168650"/>
            <a:ext cx="1270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FFA500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" name="AutoShape 6"/>
          <p:cNvSpPr/>
          <p:nvPr/>
        </p:nvSpPr>
        <p:spPr>
          <a:xfrm>
            <a:off x="4254500" y="3429000"/>
            <a:ext cx="368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A5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看看“虾”能为你做什么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0" y="6807200"/>
            <a:ext cx="12192000" cy="508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BFFF">
                  <a:alpha val="0"/>
                </a:srgbClr>
              </a:gs>
              <a:gs pos="50000">
                <a:srgbClr val="00BFFF">
                  <a:alpha val="100000"/>
                </a:srgbClr>
              </a:gs>
              <a:gs pos="100000">
                <a:srgbClr val="00BF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90551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办公自动化：告别重复劳动，提升效率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5334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16510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1524000"/>
            <a:ext cx="4445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自动生成报告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524000" y="1905000"/>
            <a:ext cx="431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DCDCDC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基于Excel数据自动生成月度销售报告、财务分析报告，并支持邮件一键发送给指定人员。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2921000"/>
            <a:ext cx="5334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31750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524000" y="3048000"/>
            <a:ext cx="4445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数据处理与分析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524000" y="3429000"/>
            <a:ext cx="431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DCDCDC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自动清洗杂乱数据、进行数据透视表分析、生成可视化图表（柱状图、折线图、饼图），并撰写数据分析报告。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4445000"/>
            <a:ext cx="5334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" y="46990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524000" y="4572000"/>
            <a:ext cx="4445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邮件与日程管理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524000" y="4953000"/>
            <a:ext cx="431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DCDCDC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自动读取邮件内容并分类归档，根据邮件内容创建日历事件，设置提醒，并自动回复常见咨询邮件。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731000" y="1778000"/>
            <a:ext cx="3810000" cy="2857500"/>
          </a:xfrm>
          <a:prstGeom prst="roundRect">
            <a:avLst>
              <a:gd name="adj" fmla="val 4444"/>
            </a:avLst>
          </a:prstGeom>
          <a:solidFill>
            <a:srgbClr val="00BFFF">
              <a:alpha val="10000"/>
            </a:srgbClr>
          </a:solidFill>
          <a:ln w="12700" cap="flat" cmpd="sng">
            <a:solidFill>
              <a:srgbClr val="00BF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6858000" y="1866900"/>
            <a:ext cx="3556000" cy="2667000"/>
          </a:xfrm>
          <a:prstGeom prst="roundRect">
            <a:avLst>
              <a:gd name="adj" fmla="val 4761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9" name="AutoShape 19"/>
          <p:cNvSpPr/>
          <p:nvPr/>
        </p:nvSpPr>
        <p:spPr>
          <a:xfrm>
            <a:off x="6731000" y="47625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00B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现代化智能办公场景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016000"/>
            <a:ext cx="80518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内容创作：从灵感迸发到达成发布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5334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21463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1841500"/>
            <a:ext cx="444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A5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热点挖掘与选题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自动监测全网热点话题、分析用户评论和社交媒体趋势，为你提供热门选题建议，并生成内容创作大纲。</a:t>
            </a:r>
            <a:endParaRPr lang="en-US" sz="1200" b="0" i="0" u="none" strike="noStrike">
              <a:solidFill>
                <a:srgbClr val="FFFFFF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762000" y="3048000"/>
            <a:ext cx="5334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34163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524000" y="3111500"/>
            <a:ext cx="444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A5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文案与脚本生成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根据你的主题和风格要求，自动生成公众号文章、短视频脚本、广告文案、演讲稿等，并支持一键多平台分发。</a:t>
            </a:r>
            <a:endParaRPr lang="en-US" sz="1200" b="0" i="0" u="none" strike="noStrike">
              <a:solidFill>
                <a:srgbClr val="FFFFFF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762000" y="4318000"/>
            <a:ext cx="5334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" y="46863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524000" y="4381500"/>
            <a:ext cx="444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A5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智能素材处理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自动从图片、视频中提取关键信息和文字，进行智能剪辑和配音，快速制作出符合平台调性的内容素材。</a:t>
            </a:r>
            <a:endParaRPr lang="en-US" sz="1200" b="0" i="0" u="none" strike="noStrike">
              <a:solidFill>
                <a:srgbClr val="FFFFFF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7366000" y="1905000"/>
            <a:ext cx="3429000" cy="2286000"/>
          </a:xfrm>
          <a:prstGeom prst="roundRect">
            <a:avLst>
              <a:gd name="adj" fmla="val 8333"/>
            </a:avLst>
          </a:prstGeom>
          <a:noFill/>
          <a:ln w="25400" cap="flat" cmpd="sng">
            <a:solidFill>
              <a:srgbClr val="00BFFF">
                <a:alpha val="50000"/>
              </a:srgbClr>
            </a:solidFill>
            <a:prstDash val="solid"/>
            <a:round/>
          </a:ln>
          <a:effectLst>
            <a:outerShdw blurRad="254000" dist="127000" dir="5400000" algn="tl" rotWithShape="0">
              <a:srgbClr val="000000">
                <a:alpha val="50000"/>
              </a:srgbClr>
            </a:outerShdw>
          </a:effectLst>
        </p:spPr>
      </p:pic>
      <p:sp>
        <p:nvSpPr>
          <p:cNvPr id="15" name="AutoShape 15"/>
          <p:cNvSpPr/>
          <p:nvPr/>
        </p:nvSpPr>
        <p:spPr>
          <a:xfrm>
            <a:off x="7366000" y="4445000"/>
            <a:ext cx="3429000" cy="1397000"/>
          </a:xfrm>
          <a:prstGeom prst="roundRect">
            <a:avLst>
              <a:gd name="adj" fmla="val 9090"/>
            </a:avLst>
          </a:prstGeom>
          <a:solidFill>
            <a:srgbClr val="00BFFF">
              <a:alpha val="1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7493000" y="4572000"/>
            <a:ext cx="3175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赋能创作全流程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OpenClaw 不仅是工具，更是您的智能创作助手，极大提升内容生产效率与质量。</a:t>
            </a:r>
            <a:endParaRPr lang="en-US" sz="1300" b="0" i="0" u="none" strike="noStrike">
              <a:solidFill>
                <a:srgbClr val="FFFFFF">
                  <a:alpha val="9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016000"/>
            <a:ext cx="6045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编程开发：你的AI编程搭档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5588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19685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460500" y="19685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A5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代码生成与调试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460500" y="23495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DCDC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根据自然语言描述自动生成Python、JavaScript、Java等多种语言的代码片段，智能识别代码错误并提供修改建议，辅助开发者快速定位和解决问题。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3302000"/>
            <a:ext cx="5588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34925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460500" y="34925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A5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代码审查与优化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460500" y="38735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DCDC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自动审查代码的规范性、安全性和性能问题，提供代码重构建议，帮助开发者写出更健壮、高效的代码。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4826000"/>
            <a:ext cx="5588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" y="50165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460500" y="50165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A5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文档自动生成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460500" y="53975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DCDC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根据代码逻辑自动生成API文档、函数注释和使用说明，让项目文档的维护变得轻松简单。</a:t>
            </a:r>
            <a:endParaRPr lang="en-US" sz="1100"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8"/>
          <a:srcRect t="24" b="24"/>
          <a:stretch>
            <a:fillRect/>
          </a:stretch>
        </p:blipFill>
        <p:spPr>
          <a:xfrm>
            <a:off x="7747000" y="2159000"/>
            <a:ext cx="3429000" cy="2286000"/>
          </a:xfrm>
          <a:prstGeom prst="roundRect">
            <a:avLst>
              <a:gd name="adj" fmla="val 8333"/>
            </a:avLst>
          </a:prstGeom>
          <a:noFill/>
          <a:ln w="25400" cap="flat" cmpd="sng">
            <a:solidFill>
              <a:srgbClr val="00BFFF">
                <a:alpha val="50000"/>
              </a:srgbClr>
            </a:solidFill>
            <a:prstDash val="solid"/>
            <a:round/>
          </a:ln>
          <a:effectLst>
            <a:outerShdw blurRad="190500" dist="101600" dir="2700000" algn="tl" rotWithShape="0">
              <a:srgbClr val="000000">
                <a:alpha val="50000"/>
              </a:srgbClr>
            </a:outerShdw>
          </a:effectLst>
        </p:spPr>
      </p:pic>
      <p:sp>
        <p:nvSpPr>
          <p:cNvPr id="18" name="AutoShape 18"/>
          <p:cNvSpPr/>
          <p:nvPr/>
        </p:nvSpPr>
        <p:spPr>
          <a:xfrm>
            <a:off x="7747000" y="4572000"/>
            <a:ext cx="342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辅助下的高效编程场景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5664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实战演示：使用 openclaw</a:t>
            </a:r>
            <a:r>
              <a:rPr lang="zh-CN" altLang="en-US" sz="36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撰写</a:t>
            </a:r>
            <a:r>
              <a:rPr lang="en-US" sz="36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公众号文章</a:t>
            </a:r>
            <a:r>
              <a:rPr lang="zh-CN" altLang="en-US" sz="36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草稿</a:t>
            </a:r>
            <a:endParaRPr lang="zh-CN" altLang="en-US" sz="3600" b="1" i="0" u="none" strike="noStrike">
              <a:solidFill>
                <a:srgbClr val="00B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762000" y="12065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通过自然语言指令，无需后台操作，即可快速完成公众号文章的创建、编辑与一键发布。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1905000"/>
            <a:ext cx="3302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0955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24000" y="2057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输入指令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2603500"/>
            <a:ext cx="279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在聊天窗口输入需求，例如：“写一篇800字关于AI趋势的文章，标题《AI的未来》，风格通俗易懂”。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445000" y="1905000"/>
            <a:ext cx="3302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9000" y="20955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207000" y="2057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内容生成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699000" y="2603500"/>
            <a:ext cx="279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OpenClaw 自动调用技能，生成符合要求的完整文章内容，并实时返回预览，支持修改调整。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128000" y="1905000"/>
            <a:ext cx="3302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82000" y="20955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8890000" y="2057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</a:t>
            </a:r>
            <a:r>
              <a:rPr lang="zh-CN" alt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同步到公众号</a:t>
            </a:r>
            <a:endParaRPr lang="zh-CN" altLang="en-US" sz="18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8382000" y="2603500"/>
            <a:ext cx="279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输入“</a:t>
            </a:r>
            <a:r>
              <a:rPr lang="zh-CN" alt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同步</a:t>
            </a: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”指令，系统自动登录公众号后台，完成排版并</a:t>
            </a:r>
            <a:r>
              <a:rPr lang="zh-CN" alt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保存到公众号草稿箱，</a:t>
            </a: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62000" y="4191000"/>
            <a:ext cx="1066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A5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核心优势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4092">
            <a:off x="762004" y="4565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A50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0" name="Picture 20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62000" y="48260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1143000" y="47752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效率极高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从构思到</a:t>
            </a:r>
            <a:r>
              <a:rPr lang="zh-CN" alt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同步成功</a:t>
            </a: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仅需不到5分钟，极大缩短内容生产周期。</a:t>
            </a:r>
            <a:endParaRPr lang="en-US" sz="1300" b="0" i="0" u="none" strike="noStrike">
              <a:solidFill>
                <a:srgbClr val="FFFFFF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445000" y="4826000"/>
            <a:ext cx="304800" cy="3048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4826000" y="47752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操作极简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无需学习复杂编辑器，一句话指令即可搞定所有操作。</a:t>
            </a:r>
            <a:endParaRPr lang="en-US" sz="1300" b="0" i="0" u="none" strike="noStrike">
              <a:solidFill>
                <a:srgbClr val="FFFFFF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128000" y="4826000"/>
            <a:ext cx="304800" cy="3048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8509000" y="47752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格式规范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自动生成符合公众号阅读习惯的排版，美观易读。</a:t>
            </a:r>
            <a:endParaRPr lang="en-US" sz="1300" b="0" i="0" u="none" strike="noStrike">
              <a:solidFill>
                <a:srgbClr val="FFFFFF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4749800" y="762000"/>
            <a:ext cx="26797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感谢聆听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715000" y="1651000"/>
            <a:ext cx="762000" cy="508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cap="flat" cmpd="sng">
            <a:solidFill>
              <a:srgbClr val="00ACE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270000" y="2032000"/>
            <a:ext cx="965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800" b="0" i="0" u="none" strike="noStrike">
                <a:solidFill>
                  <a:srgbClr val="E5E7EB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希望本次分享能帮助大家更好地了解和使用 OpenClaw，探索更多可能。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2286000" y="2921000"/>
            <a:ext cx="7620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94000" y="32385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3302000" y="3175000"/>
            <a:ext cx="177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报告人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常云举</a:t>
            </a:r>
            <a:endParaRPr lang="en-US" sz="18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07000" y="32385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715000" y="3175000"/>
            <a:ext cx="203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联系邮箱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cyjlnk@foxmail.com</a:t>
            </a:r>
            <a:endParaRPr lang="en-US" sz="1600" b="0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794000" y="39370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3302000" y="3873500"/>
            <a:ext cx="177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微信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19966519194</a:t>
            </a:r>
            <a:endParaRPr lang="en-US" sz="1600" b="0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0" y="5207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A5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欢迎交流与提问！</a:t>
            </a:r>
            <a:endParaRPr lang="en-US" sz="1100"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  <p:pic>
        <p:nvPicPr>
          <p:cNvPr id="16" name="Picture 12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07000" y="4000500"/>
            <a:ext cx="406400" cy="406400"/>
          </a:xfrm>
          <a:prstGeom prst="rect">
            <a:avLst/>
          </a:prstGeom>
        </p:spPr>
      </p:pic>
      <p:sp>
        <p:nvSpPr>
          <p:cNvPr id="17" name="AutoShape 13"/>
          <p:cNvSpPr/>
          <p:nvPr/>
        </p:nvSpPr>
        <p:spPr>
          <a:xfrm>
            <a:off x="5740400" y="3873500"/>
            <a:ext cx="177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微信</a:t>
            </a:r>
            <a:r>
              <a:rPr lang="zh-CN" altLang="en-US" sz="14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公众号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zh-CN" altLang="en-US" sz="16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云炬学长</a:t>
            </a:r>
            <a:endParaRPr lang="zh-CN" altLang="en-US" sz="1600" b="0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2959</Words>
  <Application>WPS 演示</Application>
  <PresentationFormat/>
  <Paragraphs>278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17</vt:i4>
      </vt:variant>
    </vt:vector>
  </HeadingPairs>
  <TitlesOfParts>
    <vt:vector size="29" baseType="lpstr">
      <vt:lpstr>Arial</vt:lpstr>
      <vt:lpstr>宋体</vt:lpstr>
      <vt:lpstr>Wingdings</vt:lpstr>
      <vt:lpstr>Arial</vt:lpstr>
      <vt:lpstr>Noto Sans SC</vt:lpstr>
      <vt:lpstr>DIN Alternate</vt:lpstr>
      <vt:lpstr>Segoe Print</vt:lpstr>
      <vt:lpstr>Consolas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赵美玲</cp:lastModifiedBy>
  <cp:revision>4</cp:revision>
  <dcterms:created xsi:type="dcterms:W3CDTF">2026-03-21T09:52:00Z</dcterms:created>
  <dcterms:modified xsi:type="dcterms:W3CDTF">2026-03-21T10:08:31Z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BD84287383504428B73528BA1F00ECCA_13</vt:lpwstr>
  </property>
  <property fmtid="{D5CDD505-2E9C-101B-9397-08002B2CF9AE}" pid="3" name="KSOProductBuildVer">
    <vt:lpwstr>2052-12.1.0.25225</vt:lpwstr>
  </property>
</Properties>
</file>