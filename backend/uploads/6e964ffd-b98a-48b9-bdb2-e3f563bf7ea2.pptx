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28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12192000"/>
  <p:embeddedFontLst>
    <p:embeddedFont>
      <p:font typeface="MiSans" pitchFamily="34" charset="-122"/>
      <p:regular r:id="rId36"/>
    </p:embeddedFont>
    <p:embeddedFont>
      <p:font typeface="MiSans" pitchFamily="34" charset="-120"/>
      <p:regular r:id="rId37"/>
    </p:embeddedFont>
    <p:embeddedFont>
      <p:font typeface="微软雅黑" panose="020B0503020204020204" pitchFamily="34" charset="-122"/>
      <p:regular r:id="rId38"/>
    </p:embeddedFont>
    <p:embeddedFont>
      <p:font typeface="微软雅黑" panose="020B0503020204020204" pitchFamily="34" charset="-120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7" Type="http://schemas.openxmlformats.org/officeDocument/2006/relationships/notesSlide" Target="../notesSlides/notesSlide2.xml"/><Relationship Id="rId46" Type="http://schemas.openxmlformats.org/officeDocument/2006/relationships/slideLayout" Target="../slideLayouts/slideLayout1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4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image" Target="../media/image2.png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860" y="2007235"/>
            <a:ext cx="6565265" cy="18400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AI核聚变：数字人科学家引爆硬科技传播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90430" y="4304665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536575" y="4328795"/>
            <a:ext cx="247777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汇报人：常云举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430" y="5120640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536575" y="5144770"/>
            <a:ext cx="247777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 2026/01/22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3" name="Image 0" descr="https://kimi-img.moonshot.cn/pub/slides/slides_tmpl/image/25-09-04-16:27:00-d2skql61bb2p4onbqhb0.png"/>
          <p:cNvPicPr>
            <a:picLocks noChangeAspect="1"/>
          </p:cNvPicPr>
          <p:nvPr/>
        </p:nvPicPr>
        <p:blipFill>
          <a:blip r:embed="rId1"/>
          <a:srcRect l="10087" t="-37" b="305"/>
          <a:stretch>
            <a:fillRect/>
          </a:stretch>
        </p:blipFill>
        <p:spPr>
          <a:xfrm>
            <a:off x="7114540" y="-1270"/>
            <a:ext cx="5077460" cy="68592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1"/>
            </p:custDataLst>
          </p:nvPr>
        </p:nvSpPr>
        <p:spPr>
          <a:xfrm>
            <a:off x="5705475" y="1070610"/>
            <a:ext cx="5160010" cy="952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704330" y="575310"/>
            <a:ext cx="40449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项目使命与双核引擎</a:t>
            </a:r>
            <a:endParaRPr lang="en-US" sz="1600" dirty="0"/>
          </a:p>
        </p:txBody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6271895" y="575310"/>
            <a:ext cx="5257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5796280" y="656590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6" name="Shape 4"/>
          <p:cNvSpPr/>
          <p:nvPr>
            <p:custDataLst>
              <p:tags r:id="rId5"/>
            </p:custDataLst>
          </p:nvPr>
        </p:nvSpPr>
        <p:spPr>
          <a:xfrm>
            <a:off x="5978792" y="656590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7" name="Shape 5"/>
          <p:cNvSpPr/>
          <p:nvPr>
            <p:custDataLst>
              <p:tags r:id="rId6"/>
            </p:custDataLst>
          </p:nvPr>
        </p:nvSpPr>
        <p:spPr>
          <a:xfrm>
            <a:off x="5705475" y="1664970"/>
            <a:ext cx="5160010" cy="952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>
            <p:custDataLst>
              <p:tags r:id="rId7"/>
            </p:custDataLst>
          </p:nvPr>
        </p:nvSpPr>
        <p:spPr>
          <a:xfrm>
            <a:off x="6704330" y="1169035"/>
            <a:ext cx="40449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市场痛点与红利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6271895" y="1169035"/>
            <a:ext cx="5257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5796280" y="1252855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1" name="Shape 9"/>
          <p:cNvSpPr/>
          <p:nvPr>
            <p:custDataLst>
              <p:tags r:id="rId10"/>
            </p:custDataLst>
          </p:nvPr>
        </p:nvSpPr>
        <p:spPr>
          <a:xfrm>
            <a:off x="5978792" y="1252855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2" name="Shape 10"/>
          <p:cNvSpPr/>
          <p:nvPr>
            <p:custDataLst>
              <p:tags r:id="rId11"/>
            </p:custDataLst>
          </p:nvPr>
        </p:nvSpPr>
        <p:spPr>
          <a:xfrm>
            <a:off x="5705475" y="2460625"/>
            <a:ext cx="5160010" cy="952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>
            <p:custDataLst>
              <p:tags r:id="rId12"/>
            </p:custDataLst>
          </p:nvPr>
        </p:nvSpPr>
        <p:spPr>
          <a:xfrm>
            <a:off x="6704330" y="1964690"/>
            <a:ext cx="40449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标杆案例与场景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3"/>
            </p:custDataLst>
          </p:nvPr>
        </p:nvSpPr>
        <p:spPr>
          <a:xfrm>
            <a:off x="6271895" y="1964690"/>
            <a:ext cx="5257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>
            <p:custDataLst>
              <p:tags r:id="rId14"/>
            </p:custDataLst>
          </p:nvPr>
        </p:nvSpPr>
        <p:spPr>
          <a:xfrm>
            <a:off x="5796280" y="2051050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6" name="Shape 14"/>
          <p:cNvSpPr/>
          <p:nvPr>
            <p:custDataLst>
              <p:tags r:id="rId15"/>
            </p:custDataLst>
          </p:nvPr>
        </p:nvSpPr>
        <p:spPr>
          <a:xfrm>
            <a:off x="5978792" y="2051050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grpSp>
        <p:nvGrpSpPr>
          <p:cNvPr id="64" name="组合 63"/>
          <p:cNvGrpSpPr/>
          <p:nvPr>
            <p:custDataLst>
              <p:tags r:id="rId16"/>
            </p:custDataLst>
          </p:nvPr>
        </p:nvGrpSpPr>
        <p:grpSpPr>
          <a:xfrm>
            <a:off x="5705475" y="2760345"/>
            <a:ext cx="5160010" cy="504825"/>
            <a:chOff x="8985" y="4347"/>
            <a:chExt cx="8126" cy="795"/>
          </a:xfrm>
        </p:grpSpPr>
        <p:sp>
          <p:nvSpPr>
            <p:cNvPr id="17" name="Shape 15"/>
            <p:cNvSpPr/>
            <p:nvPr>
              <p:custDataLst>
                <p:tags r:id="rId17"/>
              </p:custDataLst>
            </p:nvPr>
          </p:nvSpPr>
          <p:spPr>
            <a:xfrm>
              <a:off x="8985" y="5128"/>
              <a:ext cx="8126" cy="15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8" name="Text 16"/>
            <p:cNvSpPr/>
            <p:nvPr>
              <p:custDataLst>
                <p:tags r:id="rId18"/>
              </p:custDataLst>
            </p:nvPr>
          </p:nvSpPr>
          <p:spPr>
            <a:xfrm>
              <a:off x="10558" y="4347"/>
              <a:ext cx="6370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技术壁垒与研发布局</a:t>
              </a:r>
              <a:endParaRPr lang="en-US" sz="1600" dirty="0"/>
            </a:p>
          </p:txBody>
        </p:sp>
        <p:sp>
          <p:nvSpPr>
            <p:cNvPr id="19" name="Text 17"/>
            <p:cNvSpPr/>
            <p:nvPr>
              <p:custDataLst>
                <p:tags r:id="rId19"/>
              </p:custDataLst>
            </p:nvPr>
          </p:nvSpPr>
          <p:spPr>
            <a:xfrm>
              <a:off x="9877" y="4347"/>
              <a:ext cx="828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04</a:t>
              </a:r>
              <a:endParaRPr lang="en-US" sz="1600" dirty="0"/>
            </a:p>
          </p:txBody>
        </p:sp>
        <p:sp>
          <p:nvSpPr>
            <p:cNvPr id="20" name="Shape 18"/>
            <p:cNvSpPr/>
            <p:nvPr>
              <p:custDataLst>
                <p:tags r:id="rId20"/>
              </p:custDataLst>
            </p:nvPr>
          </p:nvSpPr>
          <p:spPr>
            <a:xfrm>
              <a:off x="9128" y="4488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  <p:sp>
          <p:nvSpPr>
            <p:cNvPr id="21" name="Shape 19"/>
            <p:cNvSpPr/>
            <p:nvPr>
              <p:custDataLst>
                <p:tags r:id="rId21"/>
              </p:custDataLst>
            </p:nvPr>
          </p:nvSpPr>
          <p:spPr>
            <a:xfrm>
              <a:off x="9415" y="4488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</p:grp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5705475" y="4051300"/>
            <a:ext cx="5160010" cy="952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704330" y="3556000"/>
            <a:ext cx="40449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商业模式与盈利路径</a:t>
            </a:r>
            <a:endParaRPr lang="en-US" sz="16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1895" y="3556000"/>
            <a:ext cx="5257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Shape 23"/>
          <p:cNvSpPr/>
          <p:nvPr>
            <p:custDataLst>
              <p:tags r:id="rId25"/>
            </p:custDataLst>
          </p:nvPr>
        </p:nvSpPr>
        <p:spPr>
          <a:xfrm>
            <a:off x="5796280" y="3647440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5978792" y="3647440"/>
            <a:ext cx="172453" cy="236220"/>
          </a:xfrm>
          <a:prstGeom prst="chevron">
            <a:avLst>
              <a:gd name="adj" fmla="val 50000"/>
            </a:avLst>
          </a:prstGeom>
          <a:solidFill>
            <a:srgbClr val="FFFFFF"/>
          </a:solidFill>
        </p:spPr>
      </p:sp>
      <p:grpSp>
        <p:nvGrpSpPr>
          <p:cNvPr id="50" name="组合 49"/>
          <p:cNvGrpSpPr/>
          <p:nvPr>
            <p:custDataLst>
              <p:tags r:id="rId27"/>
            </p:custDataLst>
          </p:nvPr>
        </p:nvGrpSpPr>
        <p:grpSpPr>
          <a:xfrm>
            <a:off x="5705475" y="4245610"/>
            <a:ext cx="5160010" cy="504825"/>
            <a:chOff x="9723" y="7234"/>
            <a:chExt cx="8126" cy="795"/>
          </a:xfrm>
        </p:grpSpPr>
        <p:sp>
          <p:nvSpPr>
            <p:cNvPr id="27" name="Shape 25"/>
            <p:cNvSpPr/>
            <p:nvPr>
              <p:custDataLst>
                <p:tags r:id="rId28"/>
              </p:custDataLst>
            </p:nvPr>
          </p:nvSpPr>
          <p:spPr>
            <a:xfrm>
              <a:off x="9866" y="7382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  <p:sp>
          <p:nvSpPr>
            <p:cNvPr id="28" name="Shape 26"/>
            <p:cNvSpPr/>
            <p:nvPr>
              <p:custDataLst>
                <p:tags r:id="rId29"/>
              </p:custDataLst>
            </p:nvPr>
          </p:nvSpPr>
          <p:spPr>
            <a:xfrm>
              <a:off x="10153" y="7382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  <p:sp>
          <p:nvSpPr>
            <p:cNvPr id="29" name="Shape 27"/>
            <p:cNvSpPr/>
            <p:nvPr>
              <p:custDataLst>
                <p:tags r:id="rId30"/>
              </p:custDataLst>
            </p:nvPr>
          </p:nvSpPr>
          <p:spPr>
            <a:xfrm>
              <a:off x="9723" y="8014"/>
              <a:ext cx="8126" cy="15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28"/>
            <p:cNvSpPr/>
            <p:nvPr>
              <p:custDataLst>
                <p:tags r:id="rId31"/>
              </p:custDataLst>
            </p:nvPr>
          </p:nvSpPr>
          <p:spPr>
            <a:xfrm>
              <a:off x="11296" y="7234"/>
              <a:ext cx="6370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增长路线与全球扩展</a:t>
              </a:r>
              <a:endParaRPr lang="en-US" sz="1600" dirty="0"/>
            </a:p>
          </p:txBody>
        </p:sp>
        <p:sp>
          <p:nvSpPr>
            <p:cNvPr id="31" name="Text 29"/>
            <p:cNvSpPr/>
            <p:nvPr>
              <p:custDataLst>
                <p:tags r:id="rId32"/>
              </p:custDataLst>
            </p:nvPr>
          </p:nvSpPr>
          <p:spPr>
            <a:xfrm>
              <a:off x="10615" y="7234"/>
              <a:ext cx="828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06</a:t>
              </a:r>
              <a:endParaRPr lang="en-US" sz="1600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3665220" y="3015615"/>
            <a:ext cx="2698115" cy="83121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3665220" y="3015615"/>
            <a:ext cx="2698115" cy="83121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65220" y="3722370"/>
            <a:ext cx="288480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>
                    <a:alpha val="5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35" name="Image 0" descr="https://kimi-img.moonshot.cn/pub/slides/slides_tmpl/image/25-09-04-16:27:01-d2skqle1bb2p4onbqhc0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743585"/>
            <a:ext cx="3663950" cy="53708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214994" y="1644507"/>
            <a:ext cx="2747803" cy="269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600" dirty="0"/>
          </a:p>
        </p:txBody>
      </p:sp>
      <p:grpSp>
        <p:nvGrpSpPr>
          <p:cNvPr id="51" name="组合 50"/>
          <p:cNvGrpSpPr/>
          <p:nvPr>
            <p:custDataLst>
              <p:tags r:id="rId34"/>
            </p:custDataLst>
          </p:nvPr>
        </p:nvGrpSpPr>
        <p:grpSpPr>
          <a:xfrm>
            <a:off x="5705475" y="5504180"/>
            <a:ext cx="5160010" cy="504825"/>
            <a:chOff x="9723" y="7234"/>
            <a:chExt cx="8126" cy="795"/>
          </a:xfrm>
        </p:grpSpPr>
        <p:sp>
          <p:nvSpPr>
            <p:cNvPr id="52" name="Shape 25"/>
            <p:cNvSpPr/>
            <p:nvPr>
              <p:custDataLst>
                <p:tags r:id="rId35"/>
              </p:custDataLst>
            </p:nvPr>
          </p:nvSpPr>
          <p:spPr>
            <a:xfrm>
              <a:off x="9866" y="7382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  <p:sp>
          <p:nvSpPr>
            <p:cNvPr id="53" name="Shape 26"/>
            <p:cNvSpPr/>
            <p:nvPr>
              <p:custDataLst>
                <p:tags r:id="rId36"/>
              </p:custDataLst>
            </p:nvPr>
          </p:nvSpPr>
          <p:spPr>
            <a:xfrm>
              <a:off x="10153" y="7382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  <p:sp>
          <p:nvSpPr>
            <p:cNvPr id="54" name="Shape 27"/>
            <p:cNvSpPr/>
            <p:nvPr>
              <p:custDataLst>
                <p:tags r:id="rId37"/>
              </p:custDataLst>
            </p:nvPr>
          </p:nvSpPr>
          <p:spPr>
            <a:xfrm>
              <a:off x="9723" y="8014"/>
              <a:ext cx="8126" cy="15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55" name="Text 28"/>
            <p:cNvSpPr/>
            <p:nvPr>
              <p:custDataLst>
                <p:tags r:id="rId38"/>
              </p:custDataLst>
            </p:nvPr>
          </p:nvSpPr>
          <p:spPr>
            <a:xfrm>
              <a:off x="11296" y="7234"/>
              <a:ext cx="6370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竞争优势与结语</a:t>
              </a:r>
              <a:endPara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56" name="Text 29"/>
            <p:cNvSpPr/>
            <p:nvPr>
              <p:custDataLst>
                <p:tags r:id="rId39"/>
              </p:custDataLst>
            </p:nvPr>
          </p:nvSpPr>
          <p:spPr>
            <a:xfrm>
              <a:off x="10615" y="7234"/>
              <a:ext cx="828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08</a:t>
              </a:r>
              <a:endParaRPr lang="en-US" sz="1600" dirty="0"/>
            </a:p>
          </p:txBody>
        </p:sp>
      </p:grpSp>
      <p:grpSp>
        <p:nvGrpSpPr>
          <p:cNvPr id="57" name="组合 56"/>
          <p:cNvGrpSpPr/>
          <p:nvPr>
            <p:custDataLst>
              <p:tags r:id="rId40"/>
            </p:custDataLst>
          </p:nvPr>
        </p:nvGrpSpPr>
        <p:grpSpPr>
          <a:xfrm>
            <a:off x="5705475" y="4872355"/>
            <a:ext cx="5160010" cy="504825"/>
            <a:chOff x="9723" y="7234"/>
            <a:chExt cx="8126" cy="795"/>
          </a:xfrm>
        </p:grpSpPr>
        <p:sp>
          <p:nvSpPr>
            <p:cNvPr id="58" name="Shape 25"/>
            <p:cNvSpPr/>
            <p:nvPr>
              <p:custDataLst>
                <p:tags r:id="rId41"/>
              </p:custDataLst>
            </p:nvPr>
          </p:nvSpPr>
          <p:spPr>
            <a:xfrm>
              <a:off x="9866" y="7382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  <p:sp>
          <p:nvSpPr>
            <p:cNvPr id="59" name="Shape 26"/>
            <p:cNvSpPr/>
            <p:nvPr>
              <p:custDataLst>
                <p:tags r:id="rId42"/>
              </p:custDataLst>
            </p:nvPr>
          </p:nvSpPr>
          <p:spPr>
            <a:xfrm>
              <a:off x="10153" y="7382"/>
              <a:ext cx="272" cy="372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</p:spPr>
        </p:sp>
        <p:sp>
          <p:nvSpPr>
            <p:cNvPr id="60" name="Shape 27"/>
            <p:cNvSpPr/>
            <p:nvPr>
              <p:custDataLst>
                <p:tags r:id="rId43"/>
              </p:custDataLst>
            </p:nvPr>
          </p:nvSpPr>
          <p:spPr>
            <a:xfrm>
              <a:off x="9723" y="8014"/>
              <a:ext cx="8126" cy="15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1" name="Text 28"/>
            <p:cNvSpPr/>
            <p:nvPr>
              <p:custDataLst>
                <p:tags r:id="rId44"/>
              </p:custDataLst>
            </p:nvPr>
          </p:nvSpPr>
          <p:spPr>
            <a:xfrm>
              <a:off x="11296" y="7234"/>
              <a:ext cx="6370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财务预测</a:t>
              </a:r>
              <a:r>
                <a:rPr lang="en-US" sz="2000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与</a:t>
              </a:r>
              <a:r>
                <a:rPr lang="zh-CN" altLang="en-US" sz="2000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融资愿景</a:t>
              </a:r>
              <a:endPara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62" name="Text 29"/>
            <p:cNvSpPr/>
            <p:nvPr>
              <p:custDataLst>
                <p:tags r:id="rId45"/>
              </p:custDataLst>
            </p:nvPr>
          </p:nvSpPr>
          <p:spPr>
            <a:xfrm>
              <a:off x="10615" y="7234"/>
              <a:ext cx="828" cy="6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MiSans" pitchFamily="34" charset="-122"/>
                  <a:ea typeface="MiSans" pitchFamily="34" charset="-122"/>
                  <a:cs typeface="MiSans" pitchFamily="34" charset="-120"/>
                </a:rPr>
                <a:t>07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项目使命与双核引擎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3-d2skqlu1bb2p4onbqhmg.png"/>
          <p:cNvPicPr>
            <a:picLocks noChangeAspect="1"/>
          </p:cNvPicPr>
          <p:nvPr/>
        </p:nvPicPr>
        <p:blipFill>
          <a:blip r:embed="rId1"/>
          <a:srcRect t="99" b="99"/>
          <a:stretch>
            <a:fillRect/>
          </a:stretch>
        </p:blipFill>
        <p:spPr>
          <a:xfrm>
            <a:off x="3936683" y="3108325"/>
            <a:ext cx="4319905" cy="287782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6:27:04-d2skqm61bb2p4onbqh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455" y="2790825"/>
            <a:ext cx="5674360" cy="351218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976485" y="3668395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15535" y="151783"/>
                </a:moveTo>
                <a:lnTo>
                  <a:pt x="242350" y="178492"/>
                </a:lnTo>
                <a:cubicBezTo>
                  <a:pt x="255477" y="191568"/>
                  <a:pt x="262770" y="209002"/>
                  <a:pt x="262770" y="227554"/>
                </a:cubicBezTo>
                <a:cubicBezTo>
                  <a:pt x="262770" y="246217"/>
                  <a:pt x="255477" y="263651"/>
                  <a:pt x="242350" y="276726"/>
                </a:cubicBezTo>
                <a:lnTo>
                  <a:pt x="145971" y="372837"/>
                </a:lnTo>
                <a:cubicBezTo>
                  <a:pt x="132283" y="386360"/>
                  <a:pt x="114443" y="393065"/>
                  <a:pt x="96603" y="393065"/>
                </a:cubicBezTo>
                <a:cubicBezTo>
                  <a:pt x="78651" y="393065"/>
                  <a:pt x="60812" y="386360"/>
                  <a:pt x="47235" y="372837"/>
                </a:cubicBezTo>
                <a:lnTo>
                  <a:pt x="20420" y="346127"/>
                </a:lnTo>
                <a:cubicBezTo>
                  <a:pt x="7293" y="333052"/>
                  <a:pt x="0" y="315618"/>
                  <a:pt x="0" y="296955"/>
                </a:cubicBezTo>
                <a:cubicBezTo>
                  <a:pt x="0" y="278403"/>
                  <a:pt x="7293" y="260969"/>
                  <a:pt x="20533" y="247893"/>
                </a:cubicBezTo>
                <a:lnTo>
                  <a:pt x="97052" y="171563"/>
                </a:lnTo>
                <a:lnTo>
                  <a:pt x="126672" y="201179"/>
                </a:lnTo>
                <a:lnTo>
                  <a:pt x="50153" y="277397"/>
                </a:lnTo>
                <a:cubicBezTo>
                  <a:pt x="44880" y="282650"/>
                  <a:pt x="41962" y="289579"/>
                  <a:pt x="41962" y="296955"/>
                </a:cubicBezTo>
                <a:cubicBezTo>
                  <a:pt x="41962" y="304442"/>
                  <a:pt x="44880" y="311371"/>
                  <a:pt x="50153" y="316623"/>
                </a:cubicBezTo>
                <a:lnTo>
                  <a:pt x="76856" y="343222"/>
                </a:lnTo>
                <a:cubicBezTo>
                  <a:pt x="87739" y="354062"/>
                  <a:pt x="105355" y="354062"/>
                  <a:pt x="116238" y="343222"/>
                </a:cubicBezTo>
                <a:lnTo>
                  <a:pt x="212617" y="247223"/>
                </a:lnTo>
                <a:cubicBezTo>
                  <a:pt x="217890" y="241970"/>
                  <a:pt x="220808" y="235041"/>
                  <a:pt x="220808" y="227554"/>
                </a:cubicBezTo>
                <a:cubicBezTo>
                  <a:pt x="220808" y="220178"/>
                  <a:pt x="217890" y="213249"/>
                  <a:pt x="212617" y="207996"/>
                </a:cubicBezTo>
                <a:lnTo>
                  <a:pt x="185914" y="181398"/>
                </a:lnTo>
                <a:close/>
                <a:moveTo>
                  <a:pt x="289589" y="0"/>
                </a:moveTo>
                <a:cubicBezTo>
                  <a:pt x="308214" y="0"/>
                  <a:pt x="325717" y="7265"/>
                  <a:pt x="338957" y="20340"/>
                </a:cubicBezTo>
                <a:lnTo>
                  <a:pt x="365660" y="47050"/>
                </a:lnTo>
                <a:cubicBezTo>
                  <a:pt x="378787" y="60125"/>
                  <a:pt x="386080" y="77559"/>
                  <a:pt x="386080" y="96110"/>
                </a:cubicBezTo>
                <a:cubicBezTo>
                  <a:pt x="386080" y="114662"/>
                  <a:pt x="378787" y="132208"/>
                  <a:pt x="365660" y="145284"/>
                </a:cubicBezTo>
                <a:lnTo>
                  <a:pt x="289140" y="221502"/>
                </a:lnTo>
                <a:lnTo>
                  <a:pt x="259408" y="191998"/>
                </a:lnTo>
                <a:lnTo>
                  <a:pt x="335927" y="115780"/>
                </a:lnTo>
                <a:cubicBezTo>
                  <a:pt x="341200" y="110527"/>
                  <a:pt x="344118" y="103598"/>
                  <a:pt x="344118" y="96110"/>
                </a:cubicBezTo>
                <a:cubicBezTo>
                  <a:pt x="344118" y="88735"/>
                  <a:pt x="341200" y="81806"/>
                  <a:pt x="335927" y="76554"/>
                </a:cubicBezTo>
                <a:lnTo>
                  <a:pt x="309224" y="49955"/>
                </a:lnTo>
                <a:cubicBezTo>
                  <a:pt x="303950" y="44703"/>
                  <a:pt x="296994" y="41797"/>
                  <a:pt x="289589" y="41797"/>
                </a:cubicBezTo>
                <a:cubicBezTo>
                  <a:pt x="282184" y="41797"/>
                  <a:pt x="275115" y="44703"/>
                  <a:pt x="269954" y="49955"/>
                </a:cubicBezTo>
                <a:lnTo>
                  <a:pt x="173463" y="145954"/>
                </a:lnTo>
                <a:cubicBezTo>
                  <a:pt x="168190" y="151206"/>
                  <a:pt x="165385" y="158135"/>
                  <a:pt x="165385" y="165511"/>
                </a:cubicBezTo>
                <a:cubicBezTo>
                  <a:pt x="165385" y="172999"/>
                  <a:pt x="168190" y="179928"/>
                  <a:pt x="173463" y="185181"/>
                </a:cubicBezTo>
                <a:lnTo>
                  <a:pt x="200278" y="211778"/>
                </a:lnTo>
                <a:lnTo>
                  <a:pt x="170546" y="241282"/>
                </a:lnTo>
                <a:lnTo>
                  <a:pt x="143843" y="214685"/>
                </a:lnTo>
                <a:cubicBezTo>
                  <a:pt x="130603" y="201609"/>
                  <a:pt x="123310" y="184175"/>
                  <a:pt x="123310" y="165511"/>
                </a:cubicBezTo>
                <a:cubicBezTo>
                  <a:pt x="123310" y="146960"/>
                  <a:pt x="130603" y="129526"/>
                  <a:pt x="143843" y="116339"/>
                </a:cubicBezTo>
                <a:lnTo>
                  <a:pt x="240221" y="20340"/>
                </a:lnTo>
                <a:cubicBezTo>
                  <a:pt x="253349" y="7265"/>
                  <a:pt x="270964" y="0"/>
                  <a:pt x="28958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1"/>
          <p:cNvSpPr/>
          <p:nvPr/>
        </p:nvSpPr>
        <p:spPr>
          <a:xfrm>
            <a:off x="1928495" y="3709035"/>
            <a:ext cx="386080" cy="393065"/>
          </a:xfrm>
          <a:custGeom>
            <a:avLst/>
            <a:gdLst/>
            <a:ahLst/>
            <a:cxnLst/>
            <a:rect l="l" t="t" r="r" b="b"/>
            <a:pathLst>
              <a:path w="386080" h="393065">
                <a:moveTo>
                  <a:pt x="263970" y="158609"/>
                </a:moveTo>
                <a:cubicBezTo>
                  <a:pt x="272951" y="158609"/>
                  <a:pt x="280396" y="166129"/>
                  <a:pt x="280396" y="175273"/>
                </a:cubicBezTo>
                <a:lnTo>
                  <a:pt x="280396" y="247883"/>
                </a:lnTo>
                <a:cubicBezTo>
                  <a:pt x="279569" y="257027"/>
                  <a:pt x="272951" y="264547"/>
                  <a:pt x="263970" y="264547"/>
                </a:cubicBezTo>
                <a:cubicBezTo>
                  <a:pt x="254930" y="264547"/>
                  <a:pt x="247603" y="257027"/>
                  <a:pt x="247603" y="247883"/>
                </a:cubicBezTo>
                <a:lnTo>
                  <a:pt x="247603" y="175273"/>
                </a:lnTo>
                <a:cubicBezTo>
                  <a:pt x="247603" y="166129"/>
                  <a:pt x="254989" y="158609"/>
                  <a:pt x="263970" y="158609"/>
                </a:cubicBezTo>
                <a:close/>
                <a:moveTo>
                  <a:pt x="192695" y="108549"/>
                </a:moveTo>
                <a:cubicBezTo>
                  <a:pt x="201676" y="108549"/>
                  <a:pt x="209062" y="116069"/>
                  <a:pt x="209062" y="125213"/>
                </a:cubicBezTo>
                <a:lnTo>
                  <a:pt x="209062" y="247883"/>
                </a:lnTo>
                <a:cubicBezTo>
                  <a:pt x="209062" y="257027"/>
                  <a:pt x="201676" y="264547"/>
                  <a:pt x="192695" y="264547"/>
                </a:cubicBezTo>
                <a:cubicBezTo>
                  <a:pt x="183596" y="264547"/>
                  <a:pt x="176270" y="257027"/>
                  <a:pt x="176270" y="247883"/>
                </a:cubicBezTo>
                <a:lnTo>
                  <a:pt x="176270" y="125213"/>
                </a:lnTo>
                <a:cubicBezTo>
                  <a:pt x="176270" y="116069"/>
                  <a:pt x="183714" y="108549"/>
                  <a:pt x="192695" y="108549"/>
                </a:cubicBezTo>
                <a:close/>
                <a:moveTo>
                  <a:pt x="121353" y="70076"/>
                </a:moveTo>
                <a:cubicBezTo>
                  <a:pt x="130338" y="70076"/>
                  <a:pt x="137727" y="77657"/>
                  <a:pt x="137727" y="86803"/>
                </a:cubicBezTo>
                <a:lnTo>
                  <a:pt x="137727" y="247880"/>
                </a:lnTo>
                <a:cubicBezTo>
                  <a:pt x="137727" y="257026"/>
                  <a:pt x="130338" y="264547"/>
                  <a:pt x="121353" y="264547"/>
                </a:cubicBezTo>
                <a:cubicBezTo>
                  <a:pt x="112309" y="264547"/>
                  <a:pt x="104980" y="257026"/>
                  <a:pt x="104980" y="247880"/>
                </a:cubicBezTo>
                <a:lnTo>
                  <a:pt x="104980" y="86803"/>
                </a:lnTo>
                <a:cubicBezTo>
                  <a:pt x="104980" y="77657"/>
                  <a:pt x="112369" y="70076"/>
                  <a:pt x="121353" y="70076"/>
                </a:cubicBezTo>
                <a:close/>
                <a:moveTo>
                  <a:pt x="54909" y="33392"/>
                </a:moveTo>
                <a:lnTo>
                  <a:pt x="54909" y="301312"/>
                </a:lnTo>
                <a:lnTo>
                  <a:pt x="329575" y="301312"/>
                </a:lnTo>
                <a:lnTo>
                  <a:pt x="329575" y="33392"/>
                </a:lnTo>
                <a:close/>
                <a:moveTo>
                  <a:pt x="16372" y="0"/>
                </a:moveTo>
                <a:lnTo>
                  <a:pt x="369767" y="0"/>
                </a:lnTo>
                <a:cubicBezTo>
                  <a:pt x="378751" y="0"/>
                  <a:pt x="386139" y="7521"/>
                  <a:pt x="386080" y="16666"/>
                </a:cubicBezTo>
                <a:cubicBezTo>
                  <a:pt x="386080" y="25811"/>
                  <a:pt x="377864" y="33392"/>
                  <a:pt x="368880" y="33392"/>
                </a:cubicBezTo>
                <a:lnTo>
                  <a:pt x="362319" y="33392"/>
                </a:lnTo>
                <a:lnTo>
                  <a:pt x="362319" y="317135"/>
                </a:lnTo>
                <a:cubicBezTo>
                  <a:pt x="362319" y="327123"/>
                  <a:pt x="354931" y="333801"/>
                  <a:pt x="345947" y="333801"/>
                </a:cubicBezTo>
                <a:lnTo>
                  <a:pt x="303332" y="333801"/>
                </a:lnTo>
                <a:lnTo>
                  <a:pt x="303332" y="376399"/>
                </a:lnTo>
                <a:cubicBezTo>
                  <a:pt x="303332" y="385544"/>
                  <a:pt x="295884" y="393065"/>
                  <a:pt x="286900" y="393065"/>
                </a:cubicBezTo>
                <a:cubicBezTo>
                  <a:pt x="277916" y="393065"/>
                  <a:pt x="270528" y="385544"/>
                  <a:pt x="270528" y="376399"/>
                </a:cubicBezTo>
                <a:lnTo>
                  <a:pt x="270528" y="333801"/>
                </a:lnTo>
                <a:lnTo>
                  <a:pt x="114725" y="333801"/>
                </a:lnTo>
                <a:lnTo>
                  <a:pt x="114725" y="376399"/>
                </a:lnTo>
                <a:cubicBezTo>
                  <a:pt x="114725" y="385544"/>
                  <a:pt x="107336" y="393065"/>
                  <a:pt x="98352" y="393065"/>
                </a:cubicBezTo>
                <a:cubicBezTo>
                  <a:pt x="89368" y="393065"/>
                  <a:pt x="81921" y="385544"/>
                  <a:pt x="81921" y="376399"/>
                </a:cubicBezTo>
                <a:lnTo>
                  <a:pt x="81921" y="333801"/>
                </a:lnTo>
                <a:lnTo>
                  <a:pt x="39305" y="333801"/>
                </a:lnTo>
                <a:cubicBezTo>
                  <a:pt x="30321" y="333801"/>
                  <a:pt x="22933" y="326281"/>
                  <a:pt x="22933" y="317135"/>
                </a:cubicBezTo>
                <a:lnTo>
                  <a:pt x="22933" y="33392"/>
                </a:lnTo>
                <a:lnTo>
                  <a:pt x="16372" y="33392"/>
                </a:lnTo>
                <a:cubicBezTo>
                  <a:pt x="7388" y="33392"/>
                  <a:pt x="0" y="25811"/>
                  <a:pt x="0" y="16666"/>
                </a:cubicBezTo>
                <a:cubicBezTo>
                  <a:pt x="0" y="7521"/>
                  <a:pt x="7388" y="0"/>
                  <a:pt x="16372" y="0"/>
                </a:cubicBez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6" name="Image 2" descr="https://kimi-img.moonshot.cn/pub/slides/slides_tmpl/image/25-09-04-16:27:03-d2skqlu1bb2p4onbqhlg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6230" y="6421120"/>
            <a:ext cx="328930" cy="32893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513820" y="6417945"/>
            <a:ext cx="347345" cy="343535"/>
          </a:xfrm>
          <a:prstGeom prst="ellipse">
            <a:avLst/>
          </a:prstGeom>
          <a:solidFill>
            <a:srgbClr val="232323"/>
          </a:solidFill>
        </p:spPr>
      </p:sp>
      <p:pic>
        <p:nvPicPr>
          <p:cNvPr id="8" name="Image 3" descr="https://kimi-img.moonshot.cn/pub/slides/slides_tmpl/image/25-09-04-16:27:03-d2skqlu1bb2p4onbqhl0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30305" y="6432550"/>
            <a:ext cx="328930" cy="3289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引爆2026：让科学流行起来</a:t>
            </a:r>
            <a:endParaRPr lang="en-US" sz="1600" dirty="0"/>
          </a:p>
        </p:txBody>
      </p:sp>
      <p:pic>
        <p:nvPicPr>
          <p:cNvPr id="10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7550" y="1398270"/>
            <a:ext cx="10859135" cy="462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重新定义数字营销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718854" y="1837055"/>
            <a:ext cx="10857179" cy="10421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AI技术全面落地，水流科技以“硬核科技翻译官”身份切入，用自研AI核聚变内容引擎把晦涩前沿科技转化为爆款短视频，为高校、科研院所、医院及高精尖企业打造永不落幕的“数字人科学家”分身，实现科学传播平民化、日更化与全球化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32460" y="2988945"/>
            <a:ext cx="278066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解决三大痛点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68721" y="3757295"/>
            <a:ext cx="2737670" cy="20823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针对认知门槛高、专家成本高、制作成本高三大顽疾，公司提供高保真数字分身+9.9元级可视化方案，让顶级科学家无需出镜即可全网日更科普，突破肉身限制，降低传播成本，助力科研成果破圈。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780145" y="2988945"/>
            <a:ext cx="278066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立志科学火炬手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816406" y="3757295"/>
            <a:ext cx="2737670" cy="17980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公司使命是让高深科学变通俗，让沉默技术被世界看见，立志成为AI时代的科学火炬手，用可持续商业模式推动知识普惠，助力中国科研在全球舞台发出更强音。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4835" y="608330"/>
            <a:ext cx="7016115" cy="76327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双核能之一：数字人科学家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4-16:27:03-d2skqlu1bb2p4onbqhi0.png"/>
          <p:cNvPicPr>
            <a:picLocks noChangeAspect="1"/>
          </p:cNvPicPr>
          <p:nvPr/>
        </p:nvPicPr>
        <p:blipFill>
          <a:blip r:embed="rId1"/>
          <a:srcRect l="130" r="130"/>
          <a:stretch>
            <a:fillRect/>
          </a:stretch>
        </p:blipFill>
        <p:spPr>
          <a:xfrm>
            <a:off x="0" y="0"/>
            <a:ext cx="396875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1985" y="1953895"/>
            <a:ext cx="6501765" cy="424815"/>
          </a:xfrm>
          <a:prstGeom prst="rect">
            <a:avLst/>
          </a:prstGeom>
          <a:noFill/>
        </p:spPr>
        <p:txBody>
          <a:bodyPr wrap="square" lIns="91440" tIns="45720" rIns="91440" bIns="36195" rtlCol="0" anchor="ctr"/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高保真学术分身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51985" y="2406015"/>
            <a:ext cx="6672580" cy="1686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451985" y="2406015"/>
            <a:ext cx="6672580" cy="1686560"/>
          </a:xfrm>
          <a:prstGeom prst="rect">
            <a:avLst/>
          </a:prstGeom>
          <a:noFill/>
        </p:spPr>
        <p:txBody>
          <a:bodyPr wrap="square" lIns="46990" tIns="90170" rIns="90170" bIns="46990" rtlCol="0" anchor="t"/>
          <a:lstStyle/>
          <a:p>
            <a:pPr algn="just">
              <a:lnSpc>
                <a:spcPct val="120000"/>
              </a:lnSpc>
            </a:pPr>
            <a:r>
              <a:rPr lang="en-US" sz="18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采集院士、教授、名医的讲座数据，训练出具备睿智冷静严谨微表情与语调的1:1数字分身，实现7×24小时科普、教学、健康宣教及学术交流，突破肉身限制，持续放大专家影响力。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451985" y="4111625"/>
            <a:ext cx="6501765" cy="424815"/>
          </a:xfrm>
          <a:prstGeom prst="rect">
            <a:avLst/>
          </a:prstGeom>
          <a:noFill/>
        </p:spPr>
        <p:txBody>
          <a:bodyPr wrap="square" lIns="91440" tIns="45720" rIns="91440" bIns="36195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多场景顶流IP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51985" y="4566285"/>
            <a:ext cx="6672580" cy="1686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4451985" y="4566285"/>
            <a:ext cx="6672580" cy="1686560"/>
          </a:xfrm>
          <a:prstGeom prst="rect">
            <a:avLst/>
          </a:prstGeom>
          <a:noFill/>
        </p:spPr>
        <p:txBody>
          <a:bodyPr wrap="square" lIns="46990" tIns="90170" rIns="90170" bIns="46990" rtlCol="0" anchor="t"/>
          <a:lstStyle/>
          <a:p>
            <a:pPr algn="just">
              <a:lnSpc>
                <a:spcPct val="120000"/>
              </a:lnSpc>
            </a:pPr>
            <a:r>
              <a:rPr lang="en-US" sz="18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已在Top高校讲解“人造太阳”核聚变原理，在头部三甲医院全天候输出权威健康科普，形成可复制的校园与医院SOP，验证数字人在高深物理与医疗场景中的权威表达力与公众吸引力。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900000">
            <a:off x="1751330" y="3255010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https://kimi-img.moonshot.cn/pub/slides/slides_tmpl/image/25-09-04-16:27:05-d2skqme1bb2p4onbqhs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790" y="2846140"/>
            <a:ext cx="2078990" cy="20789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18900000">
            <a:off x="4168140" y="3236595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5" name="Image 1" descr="https://kimi-img.moonshot.cn/pub/slides/slides_tmpl/image/25-09-04-16:27:05-d2skqme1bb2p4onbqht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05" y="2844235"/>
            <a:ext cx="2078990" cy="20789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8900000">
            <a:off x="6584950" y="3232150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7" name="Image 2" descr="https://kimi-img.moonshot.cn/pub/slides/slides_tmpl/image/25-09-04-16:27:05-d2skqme1bb2p4onbqhu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615" y="2835345"/>
            <a:ext cx="2078990" cy="207899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 rot="18900000">
            <a:off x="9001760" y="3236595"/>
            <a:ext cx="1437640" cy="143764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9" name="Image 3" descr="https://kimi-img.moonshot.cn/pub/slides/slides_tmpl/image/25-09-04-16:27:05-d2skqme1bb2p4onbqh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425" y="2834640"/>
            <a:ext cx="2078990" cy="207899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双核能之二：AI核聚变引擎</a:t>
            </a:r>
            <a:endParaRPr lang="en-US" sz="1600" dirty="0"/>
          </a:p>
        </p:txBody>
      </p:sp>
      <p:pic>
        <p:nvPicPr>
          <p:cNvPr id="11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09-04-16:27:05-d2skqme1bb2p4onbqi00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916237" y="2773686"/>
            <a:ext cx="6350000" cy="225240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08965" y="1139190"/>
            <a:ext cx="469900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极致性价比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608965" y="1491615"/>
            <a:ext cx="4352290" cy="9228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基于DeepSeek大模型+3D渲染，把9.9元算力转化为数千元级视觉大片，单条视频成本仅为传统1%，实现“投入极小、能量巨大”的核聚变级内容生产。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6026785" y="1139190"/>
            <a:ext cx="469900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一键可视化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6026785" y="1491615"/>
            <a:ext cx="4352290" cy="1199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输入论文、专利或实验数据，AI自动提炼逻辑→生成通俗脚本→匹配细胞/原子级3D模型→驱动数字人输出短视频，让不可见的聚变反应、药物机理瞬间可见。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2061845" y="4937760"/>
            <a:ext cx="494792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多用途输出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2061845" y="5289550"/>
            <a:ext cx="4726940" cy="9228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成片既可用于抖音、视频号、B站、小红书、快手科普破圈，也能直接嵌入科研汇报、政府路演、投资人推介，实现科普、申报、销售三线合一，为客户创造复合价值。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7541895" y="4881245"/>
            <a:ext cx="469900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数据飞轮壁垒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7541895" y="5290820"/>
            <a:ext cx="4352290" cy="9228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每服务一家顶尖客户，系统即把最新科研数据回流知识库，持续迭代权威性与前沿性，后来者难以复制，形成越用越强、越强越用的独家护城河。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市场痛点与红利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5960"/>
            <a:ext cx="12192000" cy="1082040"/>
          </a:xfrm>
          <a:prstGeom prst="rect">
            <a:avLst/>
          </a:prstGeom>
          <a:solidFill>
            <a:srgbClr val="232323"/>
          </a:solidFill>
        </p:spPr>
      </p:sp>
      <p:pic>
        <p:nvPicPr>
          <p:cNvPr id="3" name="Image 0" descr="https://kimi-img.moonshot.cn/pub/slides/slides_tmpl/image/25-09-04-16:27:01-d2skqle1bb2p4onbqhc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0" y="1394460"/>
            <a:ext cx="5332730" cy="533273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6:27:02-d2skqlm1bb2p4onbqhf0.png"/>
          <p:cNvPicPr>
            <a:picLocks noChangeAspect="1"/>
          </p:cNvPicPr>
          <p:nvPr/>
        </p:nvPicPr>
        <p:blipFill>
          <a:blip r:embed="rId2"/>
          <a:srcRect l="-6" t="43" r="6" b="43"/>
          <a:stretch>
            <a:fillRect/>
          </a:stretch>
        </p:blipFill>
        <p:spPr>
          <a:xfrm>
            <a:off x="6069330" y="2057400"/>
            <a:ext cx="5157470" cy="290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三高痛点阻碍科技出圈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88060" y="1594882"/>
            <a:ext cx="4469130" cy="462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真空地带亟待填补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056755" y="2332180"/>
            <a:ext cx="4565303" cy="37942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聚变、量子计算、靶向药等前沿话题认知门槛极高，传统媒体与娱乐MCN听不懂也讲不透；顶级科学家时间稀缺，半天拍摄即浪费巨额资源；传统3D视频每分钟数万元，无法日更。三高痛点造成硬科技内容供给严重不足，科研成果被困学术圈，公众、投资人及产业界难以触达，形成巨大传播真空，急需专业而低成本的解决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2-d2skqlm1bb2p4onbqhgg.png"/>
          <p:cNvPicPr>
            <a:picLocks noChangeAspect="1"/>
          </p:cNvPicPr>
          <p:nvPr/>
        </p:nvPicPr>
        <p:blipFill>
          <a:blip r:embed="rId1"/>
          <a:srcRect t="17" b="17"/>
          <a:stretch>
            <a:fillRect/>
          </a:stretch>
        </p:blipFill>
        <p:spPr>
          <a:xfrm>
            <a:off x="943610" y="1522730"/>
            <a:ext cx="3695065" cy="2336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6560" y="3830320"/>
            <a:ext cx="6058800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  <a:headEnd type="none"/>
            <a:tailEnd type="none"/>
          </a:ln>
        </p:spPr>
      </p:sp>
      <p:pic>
        <p:nvPicPr>
          <p:cNvPr id="4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2026市场红利窗口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077328" y="1672590"/>
            <a:ext cx="605726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政策资金爆发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77328" y="2080895"/>
            <a:ext cx="6057265" cy="10421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“科创中国”战略进入兑现期，中央与地方对科普和成果转化的专项预算创历史新高，高校、医院、央企均设视频化专项资金，为公司提供可观B2B订单池。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2480" y="4012565"/>
            <a:ext cx="389124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技术跨越恐怖谷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34470" y="4418965"/>
            <a:ext cx="3832459" cy="16617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国产DeepSeek大模型与数字人渲染在2026年同步成熟，生成速度秒级、成本个位数，技术平权让专业内容生产门槛瞬间消失，窗口期仅1-2年。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77328" y="4257675"/>
            <a:ext cx="605726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需求端全面觉醒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77328" y="4665980"/>
            <a:ext cx="6057265" cy="10421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短视频平台科普标签播放量年增300%，公众对硬核知识付费意愿提升；同时企业需把复杂技术卖给政府与投资人，可视化成为刚需，市场呈现供需双热。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标杆案例与场景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顶尖高校：人造太阳数字推手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 rot="300000">
            <a:off x="1297305" y="1967230"/>
            <a:ext cx="4190365" cy="3338830"/>
          </a:xfrm>
          <a:prstGeom prst="roundRect">
            <a:avLst>
              <a:gd name="adj" fmla="val 6666"/>
            </a:avLst>
          </a:prstGeom>
          <a:solidFill>
            <a:srgbClr val="232323"/>
          </a:solidFill>
        </p:spPr>
      </p:sp>
      <p:sp>
        <p:nvSpPr>
          <p:cNvPr id="4" name="Shape 2"/>
          <p:cNvSpPr/>
          <p:nvPr/>
        </p:nvSpPr>
        <p:spPr>
          <a:xfrm>
            <a:off x="1419225" y="2094230"/>
            <a:ext cx="4190365" cy="346011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7945" y="2302510"/>
            <a:ext cx="289560" cy="289560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6" name="Shape 4"/>
          <p:cNvSpPr/>
          <p:nvPr/>
        </p:nvSpPr>
        <p:spPr>
          <a:xfrm rot="300000">
            <a:off x="6483985" y="1967230"/>
            <a:ext cx="4190365" cy="3338830"/>
          </a:xfrm>
          <a:prstGeom prst="roundRect">
            <a:avLst>
              <a:gd name="adj" fmla="val 6666"/>
            </a:avLst>
          </a:prstGeom>
          <a:solidFill>
            <a:srgbClr val="EBEBEB"/>
          </a:solidFill>
        </p:spPr>
      </p:sp>
      <p:sp>
        <p:nvSpPr>
          <p:cNvPr id="7" name="Shape 5"/>
          <p:cNvSpPr/>
          <p:nvPr/>
        </p:nvSpPr>
        <p:spPr>
          <a:xfrm>
            <a:off x="6605905" y="2094230"/>
            <a:ext cx="4190365" cy="346011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4625" y="2302510"/>
            <a:ext cx="289560" cy="289560"/>
          </a:xfrm>
          <a:prstGeom prst="ellipse">
            <a:avLst/>
          </a:prstGeom>
          <a:solidFill>
            <a:srgbClr val="EBEBEB"/>
          </a:solidFill>
        </p:spPr>
      </p:sp>
      <p:pic>
        <p:nvPicPr>
          <p:cNvPr id="9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20850" y="2320925"/>
            <a:ext cx="3184100" cy="37107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核聚变可视化破圈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20850" y="3133090"/>
            <a:ext cx="3639820" cy="15847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为拥有EAST装置的Top3理工科高校定制物理教授数字分身，连续发布“人造太阳”系列短视频，将数亿度等离子体燃烧场景3D化，抖音/B站单条播放破500万，相关招生推文阅读量翻倍。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7530" y="2320925"/>
            <a:ext cx="3184100" cy="37107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校园科普SOP成型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07530" y="3133090"/>
            <a:ext cx="3639820" cy="12676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项目沉淀出“采集-训练-脚本-渲染-发布”五步标准，可在其他院系快速复制，帮助高校持续输出前沿科普，建立国家级科研装置公众教育标杆。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2770" y="1444625"/>
            <a:ext cx="11344275" cy="0"/>
          </a:xfrm>
          <a:prstGeom prst="straightConnector1">
            <a:avLst/>
          </a:prstGeom>
          <a:noFill/>
          <a:ln w="28575">
            <a:solidFill>
              <a:srgbClr val="111111"/>
            </a:solidFill>
            <a:prstDash val="sysDot"/>
            <a:headEnd type="arrow"/>
            <a:tailEnd type="arrow"/>
          </a:ln>
        </p:spPr>
      </p:sp>
      <p:sp>
        <p:nvSpPr>
          <p:cNvPr id="3" name="Shape 1"/>
          <p:cNvSpPr/>
          <p:nvPr/>
        </p:nvSpPr>
        <p:spPr>
          <a:xfrm>
            <a:off x="6391275" y="6262370"/>
            <a:ext cx="2607945" cy="76200"/>
          </a:xfrm>
          <a:prstGeom prst="rect">
            <a:avLst/>
          </a:prstGeom>
          <a:solidFill>
            <a:srgbClr val="232323"/>
          </a:solidFill>
        </p:spPr>
      </p:sp>
      <p:sp>
        <p:nvSpPr>
          <p:cNvPr id="4" name="Shape 2"/>
          <p:cNvSpPr/>
          <p:nvPr/>
        </p:nvSpPr>
        <p:spPr>
          <a:xfrm>
            <a:off x="9392920" y="6262370"/>
            <a:ext cx="2607945" cy="76200"/>
          </a:xfrm>
          <a:prstGeom prst="rect">
            <a:avLst/>
          </a:prstGeom>
          <a:solidFill>
            <a:srgbClr val="232323"/>
          </a:solidFill>
        </p:spPr>
      </p:sp>
      <p:sp>
        <p:nvSpPr>
          <p:cNvPr id="5" name="Shape 3"/>
          <p:cNvSpPr/>
          <p:nvPr/>
        </p:nvSpPr>
        <p:spPr>
          <a:xfrm flipV="1">
            <a:off x="7544578" y="1457325"/>
            <a:ext cx="0" cy="35306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494412" y="1416685"/>
            <a:ext cx="104142" cy="104140"/>
          </a:xfrm>
          <a:custGeom>
            <a:avLst/>
            <a:gdLst/>
            <a:ahLst/>
            <a:cxnLst/>
            <a:rect l="l" t="t" r="r" b="b"/>
            <a:pathLst>
              <a:path w="104142" h="104140">
                <a:moveTo>
                  <a:pt x="104142" y="17869"/>
                </a:moveTo>
                <a:cubicBezTo>
                  <a:pt x="127970" y="41691"/>
                  <a:pt x="127970" y="80319"/>
                  <a:pt x="104142" y="104140"/>
                </a:cubicBezTo>
                <a:cubicBezTo>
                  <a:pt x="80320" y="127968"/>
                  <a:pt x="41692" y="127968"/>
                  <a:pt x="17870" y="104140"/>
                </a:cubicBezTo>
                <a:cubicBezTo>
                  <a:pt x="-5959" y="80319"/>
                  <a:pt x="-5959" y="41691"/>
                  <a:pt x="17870" y="17869"/>
                </a:cubicBezTo>
                <a:cubicBezTo>
                  <a:pt x="41692" y="-5958"/>
                  <a:pt x="80320" y="-5958"/>
                  <a:pt x="104142" y="17869"/>
                </a:cubicBezTo>
                <a:close/>
              </a:path>
            </a:pathLst>
          </a:custGeom>
          <a:solidFill>
            <a:srgbClr val="404040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900000">
            <a:off x="7072129" y="2004060"/>
            <a:ext cx="944264" cy="944245"/>
          </a:xfrm>
          <a:prstGeom prst="rect">
            <a:avLst/>
          </a:prstGeom>
          <a:solidFill>
            <a:srgbClr val="404040"/>
          </a:solidFill>
        </p:spPr>
      </p:sp>
      <p:pic>
        <p:nvPicPr>
          <p:cNvPr id="8" name="Image 0" descr="https://kimi-img.moonshot.cn/pub/slides/slides_tmpl/image/25-09-04-16:27:05-d2skqme1bb2p4onbqhvg.png"/>
          <p:cNvPicPr>
            <a:picLocks noChangeAspect="1"/>
          </p:cNvPicPr>
          <p:nvPr/>
        </p:nvPicPr>
        <p:blipFill>
          <a:blip r:embed="rId1"/>
          <a:srcRect l="2879" t="59" r="2768" b="-59"/>
          <a:stretch>
            <a:fillRect/>
          </a:stretch>
        </p:blipFill>
        <p:spPr>
          <a:xfrm>
            <a:off x="7274063" y="2205990"/>
            <a:ext cx="540396" cy="5403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 flipV="1">
            <a:off x="10578033" y="1457325"/>
            <a:ext cx="0" cy="35306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10527867" y="1416685"/>
            <a:ext cx="104142" cy="104140"/>
          </a:xfrm>
          <a:custGeom>
            <a:avLst/>
            <a:gdLst/>
            <a:ahLst/>
            <a:cxnLst/>
            <a:rect l="l" t="t" r="r" b="b"/>
            <a:pathLst>
              <a:path w="104142" h="104140">
                <a:moveTo>
                  <a:pt x="104142" y="17869"/>
                </a:moveTo>
                <a:cubicBezTo>
                  <a:pt x="127970" y="41691"/>
                  <a:pt x="127970" y="80319"/>
                  <a:pt x="104142" y="104140"/>
                </a:cubicBezTo>
                <a:cubicBezTo>
                  <a:pt x="80320" y="127968"/>
                  <a:pt x="41692" y="127968"/>
                  <a:pt x="17870" y="104140"/>
                </a:cubicBezTo>
                <a:cubicBezTo>
                  <a:pt x="-5959" y="80319"/>
                  <a:pt x="-5959" y="41691"/>
                  <a:pt x="17870" y="17869"/>
                </a:cubicBezTo>
                <a:cubicBezTo>
                  <a:pt x="41692" y="-5958"/>
                  <a:pt x="80320" y="-5958"/>
                  <a:pt x="104142" y="17869"/>
                </a:cubicBezTo>
                <a:close/>
              </a:path>
            </a:pathLst>
          </a:custGeom>
          <a:solidFill>
            <a:srgbClr val="404040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18900000">
            <a:off x="10105584" y="2004060"/>
            <a:ext cx="944264" cy="944245"/>
          </a:xfrm>
          <a:prstGeom prst="rect">
            <a:avLst/>
          </a:prstGeom>
          <a:solidFill>
            <a:srgbClr val="404040"/>
          </a:solidFill>
        </p:spPr>
      </p:sp>
      <p:pic>
        <p:nvPicPr>
          <p:cNvPr id="12" name="Image 1" descr="https://kimi-img.moonshot.cn/pub/slides/slides_tmpl/image/25-09-04-16:27:05-d2skqme1bb2p4onbqhvg.png"/>
          <p:cNvPicPr>
            <a:picLocks noChangeAspect="1"/>
          </p:cNvPicPr>
          <p:nvPr/>
        </p:nvPicPr>
        <p:blipFill>
          <a:blip r:embed="rId1"/>
          <a:srcRect l="2879" t="59" r="2768" b="-59"/>
          <a:stretch>
            <a:fillRect/>
          </a:stretch>
        </p:blipFill>
        <p:spPr>
          <a:xfrm>
            <a:off x="10307518" y="2205990"/>
            <a:ext cx="540396" cy="54038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flipV="1">
            <a:off x="4558749" y="1457325"/>
            <a:ext cx="0" cy="35306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4508583" y="1416685"/>
            <a:ext cx="104142" cy="104140"/>
          </a:xfrm>
          <a:custGeom>
            <a:avLst/>
            <a:gdLst/>
            <a:ahLst/>
            <a:cxnLst/>
            <a:rect l="l" t="t" r="r" b="b"/>
            <a:pathLst>
              <a:path w="104142" h="104140">
                <a:moveTo>
                  <a:pt x="104142" y="17869"/>
                </a:moveTo>
                <a:cubicBezTo>
                  <a:pt x="127970" y="41691"/>
                  <a:pt x="127970" y="80319"/>
                  <a:pt x="104142" y="104140"/>
                </a:cubicBezTo>
                <a:cubicBezTo>
                  <a:pt x="80320" y="127968"/>
                  <a:pt x="41692" y="127968"/>
                  <a:pt x="17870" y="104140"/>
                </a:cubicBezTo>
                <a:cubicBezTo>
                  <a:pt x="-5959" y="80319"/>
                  <a:pt x="-5959" y="41691"/>
                  <a:pt x="17870" y="17869"/>
                </a:cubicBezTo>
                <a:cubicBezTo>
                  <a:pt x="41692" y="-5958"/>
                  <a:pt x="80320" y="-5958"/>
                  <a:pt x="104142" y="17869"/>
                </a:cubicBezTo>
                <a:close/>
              </a:path>
            </a:pathLst>
          </a:custGeom>
          <a:solidFill>
            <a:srgbClr val="404040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rot="18900000">
            <a:off x="4086300" y="2004060"/>
            <a:ext cx="944264" cy="944245"/>
          </a:xfrm>
          <a:prstGeom prst="rect">
            <a:avLst/>
          </a:prstGeom>
          <a:solidFill>
            <a:srgbClr val="404040"/>
          </a:solidFill>
        </p:spPr>
      </p:sp>
      <p:pic>
        <p:nvPicPr>
          <p:cNvPr id="16" name="Image 2" descr="https://kimi-img.moonshot.cn/pub/slides/slides_tmpl/image/25-09-04-16:27:05-d2skqme1bb2p4onbqhvg.png"/>
          <p:cNvPicPr>
            <a:picLocks noChangeAspect="1"/>
          </p:cNvPicPr>
          <p:nvPr/>
        </p:nvPicPr>
        <p:blipFill>
          <a:blip r:embed="rId1"/>
          <a:srcRect l="2824" r="2824"/>
          <a:stretch>
            <a:fillRect/>
          </a:stretch>
        </p:blipFill>
        <p:spPr>
          <a:xfrm>
            <a:off x="4288234" y="2205990"/>
            <a:ext cx="539761" cy="5397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9691" y="6262370"/>
            <a:ext cx="2607996" cy="76200"/>
          </a:xfrm>
          <a:prstGeom prst="rect">
            <a:avLst/>
          </a:prstGeom>
          <a:solidFill>
            <a:srgbClr val="232323"/>
          </a:solidFill>
        </p:spPr>
      </p:sp>
      <p:sp>
        <p:nvSpPr>
          <p:cNvPr id="18" name="Shape 13"/>
          <p:cNvSpPr/>
          <p:nvPr/>
        </p:nvSpPr>
        <p:spPr>
          <a:xfrm flipV="1">
            <a:off x="1572921" y="1455420"/>
            <a:ext cx="0" cy="33401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9" name="Shape 14"/>
          <p:cNvSpPr/>
          <p:nvPr/>
        </p:nvSpPr>
        <p:spPr>
          <a:xfrm>
            <a:off x="1522755" y="1416685"/>
            <a:ext cx="104142" cy="98425"/>
          </a:xfrm>
          <a:custGeom>
            <a:avLst/>
            <a:gdLst/>
            <a:ahLst/>
            <a:cxnLst/>
            <a:rect l="l" t="t" r="r" b="b"/>
            <a:pathLst>
              <a:path w="104142" h="98425">
                <a:moveTo>
                  <a:pt x="104142" y="16889"/>
                </a:moveTo>
                <a:cubicBezTo>
                  <a:pt x="127970" y="39403"/>
                  <a:pt x="127970" y="75911"/>
                  <a:pt x="104142" y="98425"/>
                </a:cubicBezTo>
                <a:cubicBezTo>
                  <a:pt x="80320" y="120945"/>
                  <a:pt x="41692" y="120945"/>
                  <a:pt x="17870" y="98425"/>
                </a:cubicBezTo>
                <a:cubicBezTo>
                  <a:pt x="-5959" y="75911"/>
                  <a:pt x="-5959" y="39403"/>
                  <a:pt x="17870" y="16889"/>
                </a:cubicBezTo>
                <a:cubicBezTo>
                  <a:pt x="41692" y="-5631"/>
                  <a:pt x="80320" y="-5631"/>
                  <a:pt x="104142" y="16889"/>
                </a:cubicBezTo>
                <a:close/>
              </a:path>
            </a:pathLst>
          </a:custGeom>
          <a:solidFill>
            <a:srgbClr val="404040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rot="18900000">
            <a:off x="1100471" y="1972945"/>
            <a:ext cx="944264" cy="894080"/>
          </a:xfrm>
          <a:prstGeom prst="rect">
            <a:avLst/>
          </a:prstGeom>
          <a:solidFill>
            <a:srgbClr val="404040"/>
          </a:solidFill>
        </p:spPr>
      </p:sp>
      <p:pic>
        <p:nvPicPr>
          <p:cNvPr id="21" name="Image 3" descr="https://kimi-img.moonshot.cn/pub/slides/slides_tmpl/image/25-09-04-16:27:05-d2skqme1bb2p4onbqhvg.png"/>
          <p:cNvPicPr>
            <a:picLocks noChangeAspect="1"/>
          </p:cNvPicPr>
          <p:nvPr/>
        </p:nvPicPr>
        <p:blipFill>
          <a:blip r:embed="rId1"/>
          <a:srcRect l="176" t="59" r="176" b="-59"/>
          <a:stretch>
            <a:fillRect/>
          </a:stretch>
        </p:blipFill>
        <p:spPr>
          <a:xfrm>
            <a:off x="1302405" y="2164147"/>
            <a:ext cx="539761" cy="51107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87987" y="6262370"/>
            <a:ext cx="2607996" cy="76200"/>
          </a:xfrm>
          <a:prstGeom prst="rect">
            <a:avLst/>
          </a:prstGeom>
          <a:solidFill>
            <a:srgbClr val="232323"/>
          </a:solidFill>
        </p:spPr>
      </p:sp>
      <p:sp>
        <p:nvSpPr>
          <p:cNvPr id="23" name="Text 17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头部医院：名医分身普惠健康</a:t>
            </a:r>
            <a:endParaRPr lang="en-US" sz="1600" dirty="0"/>
          </a:p>
        </p:txBody>
      </p:sp>
      <p:pic>
        <p:nvPicPr>
          <p:cNvPr id="24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73800" y="3291205"/>
            <a:ext cx="2917133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7×24权威科普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273050" y="3929361"/>
            <a:ext cx="2722674" cy="14771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数字人名医持续输出慢病管理、术前宣教与辟谣内容，单账号三个月播放破千万，患者教育覆盖人次提升十倍，门诊重复咨询率下降15%。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3259629" y="3291205"/>
            <a:ext cx="2917133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专家时间零占用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258879" y="3965398"/>
            <a:ext cx="2722674" cy="14771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仅需一次1小时形象采集，AI即可永久生成新视频，长江学者无需再出镜，医院以最小成本维持最大声量，实现“专家在场”与“专家不在场”双赢。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245458" y="3291205"/>
            <a:ext cx="2917133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品牌温度同步提升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244708" y="3965372"/>
            <a:ext cx="2722674" cy="1199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数字人保持与真人一致的温和语调与学术权威感，患者满意度问卷显示“信任度”提升22%，医院在区域口碑排行榜跃升3位。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9278912" y="3291205"/>
            <a:ext cx="2917133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商业模式可迁移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9278162" y="3965398"/>
            <a:ext cx="2722674" cy="1199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该模式已快速复制于省内多家三甲医院，形成区域医联体数字科普联盟，为后续SaaS订阅提供稳定客户基础与数据循环。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5960"/>
            <a:ext cx="1219835" cy="1082040"/>
          </a:xfrm>
          <a:prstGeom prst="rect">
            <a:avLst/>
          </a:prstGeom>
          <a:solidFill>
            <a:srgbClr val="232323"/>
          </a:solidFill>
        </p:spPr>
      </p:sp>
      <p:pic>
        <p:nvPicPr>
          <p:cNvPr id="3" name="Image 0" descr="https://kimi-img.moonshot.cn/pub/slides/slides_tmpl/image/25-09-04-16:27:01-d2skqle1bb2p4onbqheg.png"/>
          <p:cNvPicPr>
            <a:picLocks noChangeAspect="1"/>
          </p:cNvPicPr>
          <p:nvPr/>
        </p:nvPicPr>
        <p:blipFill>
          <a:blip r:embed="rId1"/>
          <a:srcRect l="45" r="45"/>
          <a:stretch>
            <a:fillRect/>
          </a:stretch>
        </p:blipFill>
        <p:spPr>
          <a:xfrm>
            <a:off x="666750" y="1808480"/>
            <a:ext cx="5688330" cy="4427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硬核企业与消费品牌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45276" y="1716175"/>
            <a:ext cx="4453890" cy="5196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跨界验证扩展力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645276" y="2235843"/>
            <a:ext cx="5110997" cy="5120243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央企软件巨头用AI核聚变引擎把信创操作系统原理做成3D故事片，政府汇报时间缩短一半；生物医药独角兽以数字人博士路演，在投资人中估值提升20%；国民家纺品牌借学者型数字人直播带货实现品牌年轻化。多行业案例证明，数字人科学家既能承担B端技术可视化，也能跨界C端消费场景，具备极强横向扩展能力与商业想象空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技术壁垒与研发布局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2-d2skqlm1bb2p4onbqhf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5" y="1985010"/>
            <a:ext cx="4468495" cy="39382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6:27:01-d2skqle1bb2p4onbqh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70" y="3652520"/>
            <a:ext cx="603250" cy="603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AI核聚变知识库构建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40680" y="2008505"/>
            <a:ext cx="5848350" cy="36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多模态权威输入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440680" y="2394585"/>
            <a:ext cx="5848350" cy="7314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持续喂入物理、生物、医学等顶级期刊论文与实验数据，自动清洗标注，确保知识库与全球科研前沿同步，奠定内容权威底座。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440680" y="4078605"/>
            <a:ext cx="5848350" cy="36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飞轮式自我强化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440680" y="4464685"/>
            <a:ext cx="5848350" cy="7314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每完成一个客户项目，系统即把新生成的脚本与3D模型回流知识库，形成越用越聪明、后来者难以追赶的数据飞轮护城河。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3-d2skqlu1bb2p4onbqhkg.jpg"/>
          <p:cNvPicPr>
            <a:picLocks noChangeAspect="1"/>
          </p:cNvPicPr>
          <p:nvPr/>
        </p:nvPicPr>
        <p:blipFill>
          <a:blip r:embed="rId1"/>
          <a:srcRect t="62" b="62"/>
          <a:stretch>
            <a:fillRect/>
          </a:stretch>
        </p:blipFill>
        <p:spPr>
          <a:xfrm>
            <a:off x="558165" y="1482980"/>
            <a:ext cx="11124000" cy="1735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7545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4353560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29575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学者气质微表情训练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8185" y="2545080"/>
            <a:ext cx="313753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专利级微表情模型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9099" y="3483091"/>
            <a:ext cx="3089022" cy="1371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针对眉毛轻抬、目光停顿、语速节奏等学术细节进行标注与强化学习，已申请发明专利，确保数字人展现严谨睿智的权威气质。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26915" y="2545080"/>
            <a:ext cx="313753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与带货主播差异化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67829" y="3483202"/>
            <a:ext cx="3089022" cy="1371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模型抑制过度微笑与亢奋语调，输出冷静从容的“Academic Tone”，让观众在短视频平台一眼识别科学家身份，建立可信度。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73085" y="2541270"/>
            <a:ext cx="313753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快速迁移多领域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13999" y="3479169"/>
            <a:ext cx="3089022" cy="1371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同一套气质训练框架可在物理、医学、生物等领域复用，缩短新客户数字人训练周期至3天，提升交付速度与规模经济。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商业模式与盈利路径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325" y="2059940"/>
            <a:ext cx="2710180" cy="4064635"/>
          </a:xfrm>
          <a:prstGeom prst="rect">
            <a:avLst/>
          </a:prstGeom>
          <a:solidFill>
            <a:srgbClr val="000000">
              <a:alpha val="16078"/>
            </a:srgbClr>
          </a:solidFill>
        </p:spPr>
      </p:sp>
      <p:sp>
        <p:nvSpPr>
          <p:cNvPr id="3" name="Shape 1"/>
          <p:cNvSpPr/>
          <p:nvPr/>
        </p:nvSpPr>
        <p:spPr>
          <a:xfrm rot="5400000">
            <a:off x="130937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</p:spPr>
      </p:sp>
      <p:pic>
        <p:nvPicPr>
          <p:cNvPr id="4" name="Image 0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080" y="1448435"/>
            <a:ext cx="536575" cy="7683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78505" y="2059940"/>
            <a:ext cx="2710180" cy="4064635"/>
          </a:xfrm>
          <a:prstGeom prst="rect">
            <a:avLst/>
          </a:prstGeom>
          <a:solidFill>
            <a:srgbClr val="000000">
              <a:alpha val="16078"/>
            </a:srgbClr>
          </a:solidFill>
        </p:spPr>
      </p:sp>
      <p:sp>
        <p:nvSpPr>
          <p:cNvPr id="6" name="Shape 3"/>
          <p:cNvSpPr/>
          <p:nvPr/>
        </p:nvSpPr>
        <p:spPr>
          <a:xfrm rot="5400000">
            <a:off x="414655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</p:spPr>
      </p:sp>
      <p:pic>
        <p:nvPicPr>
          <p:cNvPr id="7" name="Image 1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1"/>
          <a:srcRect l="249" r="249"/>
          <a:stretch>
            <a:fillRect/>
          </a:stretch>
        </p:blipFill>
        <p:spPr>
          <a:xfrm>
            <a:off x="4366260" y="1448435"/>
            <a:ext cx="532130" cy="7651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15685" y="2059940"/>
            <a:ext cx="2710180" cy="4064635"/>
          </a:xfrm>
          <a:prstGeom prst="rect">
            <a:avLst/>
          </a:prstGeom>
          <a:solidFill>
            <a:srgbClr val="000000">
              <a:alpha val="16078"/>
            </a:srgbClr>
          </a:solidFill>
        </p:spPr>
      </p:sp>
      <p:sp>
        <p:nvSpPr>
          <p:cNvPr id="9" name="Shape 5"/>
          <p:cNvSpPr/>
          <p:nvPr/>
        </p:nvSpPr>
        <p:spPr>
          <a:xfrm rot="5400000">
            <a:off x="698373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</p:spPr>
      </p:sp>
      <p:pic>
        <p:nvPicPr>
          <p:cNvPr id="10" name="Image 2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1"/>
          <a:srcRect l="249" r="249"/>
          <a:stretch>
            <a:fillRect/>
          </a:stretch>
        </p:blipFill>
        <p:spPr>
          <a:xfrm>
            <a:off x="7203440" y="1448435"/>
            <a:ext cx="532130" cy="7651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952865" y="2059940"/>
            <a:ext cx="2710180" cy="4064635"/>
          </a:xfrm>
          <a:prstGeom prst="rect">
            <a:avLst/>
          </a:prstGeom>
          <a:solidFill>
            <a:srgbClr val="000000">
              <a:alpha val="16078"/>
            </a:srgbClr>
          </a:solidFill>
        </p:spPr>
      </p:sp>
      <p:sp>
        <p:nvSpPr>
          <p:cNvPr id="12" name="Shape 7"/>
          <p:cNvSpPr/>
          <p:nvPr/>
        </p:nvSpPr>
        <p:spPr>
          <a:xfrm rot="5400000">
            <a:off x="9820910" y="475615"/>
            <a:ext cx="973455" cy="2708910"/>
          </a:xfrm>
          <a:prstGeom prst="homePlate">
            <a:avLst>
              <a:gd name="adj" fmla="val 29908"/>
            </a:avLst>
          </a:prstGeom>
          <a:solidFill>
            <a:srgbClr val="000000"/>
          </a:solidFill>
        </p:spPr>
      </p:sp>
      <p:pic>
        <p:nvPicPr>
          <p:cNvPr id="13" name="Image 3" descr="https://kimi-img.moonshot.cn/pub/slides/slides_tmpl/image/25-09-04-16:27:05-d2skqme1bb2p4onbqhv0.png"/>
          <p:cNvPicPr>
            <a:picLocks noChangeAspect="1"/>
          </p:cNvPicPr>
          <p:nvPr/>
        </p:nvPicPr>
        <p:blipFill>
          <a:blip r:embed="rId1"/>
          <a:srcRect l="249" r="249"/>
          <a:stretch>
            <a:fillRect/>
          </a:stretch>
        </p:blipFill>
        <p:spPr>
          <a:xfrm>
            <a:off x="10040620" y="1448435"/>
            <a:ext cx="532130" cy="7651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6708775"/>
            <a:ext cx="1773555" cy="14922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Text 9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三高盈利模式组合</a:t>
            </a:r>
            <a:endParaRPr lang="en-US" sz="1600" dirty="0"/>
          </a:p>
        </p:txBody>
      </p:sp>
      <p:pic>
        <p:nvPicPr>
          <p:cNvPr id="16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8170" y="2317115"/>
            <a:ext cx="258699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IP定制费高毛利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598170" y="3023235"/>
            <a:ext cx="2495550" cy="15850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为院士、名医、企业家定制高保真数字分身，单项目50-200万元，毛利率&gt;60%，一次性抢占头部客户预算并建立深度绑定。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3401695" y="2317115"/>
            <a:ext cx="258699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SaaS订阅稳现金流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3401695" y="3023235"/>
            <a:ext cx="2495550" cy="15850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AI核聚变引擎按月授权，3000-5000元/账号，覆盖中小实验室与专精特新企业，提供持续、可预测的经常性收入。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238875" y="2317115"/>
            <a:ext cx="258699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全案代运营高增长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238875" y="3023235"/>
            <a:ext cx="2495550" cy="1286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托管抖音、视频号、TikTok账号，收取月度服务费+增长分成，利用内容优势帮客户涨粉带货，分享增量收益。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9076055" y="2317115"/>
            <a:ext cx="258699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版权授权扩边际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076055" y="3023235"/>
            <a:ext cx="2495550" cy="12864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将数字人授权给科技馆、中小学、海外机构做AI辅导员，按年收取版权费，边际成本接近零，净利贡献高。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590" y="1809750"/>
            <a:ext cx="12229465" cy="4191000"/>
          </a:xfrm>
          <a:prstGeom prst="rect">
            <a:avLst/>
          </a:prstGeom>
          <a:solidFill>
            <a:srgbClr val="EBEBEB"/>
          </a:solidFill>
        </p:spPr>
      </p:sp>
      <p:sp>
        <p:nvSpPr>
          <p:cNvPr id="3" name="Shape 1"/>
          <p:cNvSpPr/>
          <p:nvPr/>
        </p:nvSpPr>
        <p:spPr>
          <a:xfrm>
            <a:off x="8034827" y="2444495"/>
            <a:ext cx="418841" cy="418841"/>
          </a:xfrm>
          <a:prstGeom prst="ellipse">
            <a:avLst/>
          </a:prstGeom>
          <a:solidFill>
            <a:srgbClr val="A7A7A7"/>
          </a:solidFill>
        </p:spPr>
      </p:sp>
      <p:sp>
        <p:nvSpPr>
          <p:cNvPr id="4" name="Shape 2"/>
          <p:cNvSpPr/>
          <p:nvPr/>
        </p:nvSpPr>
        <p:spPr>
          <a:xfrm rot="20400000">
            <a:off x="8627083" y="5104504"/>
            <a:ext cx="173415" cy="173415"/>
          </a:xfrm>
          <a:prstGeom prst="ellipse">
            <a:avLst/>
          </a:prstGeom>
          <a:solidFill>
            <a:srgbClr val="232323"/>
          </a:solidFill>
        </p:spPr>
      </p:sp>
      <p:sp>
        <p:nvSpPr>
          <p:cNvPr id="5" name="Shape 3"/>
          <p:cNvSpPr/>
          <p:nvPr/>
        </p:nvSpPr>
        <p:spPr>
          <a:xfrm rot="20400000">
            <a:off x="10691407" y="2558635"/>
            <a:ext cx="120509" cy="120509"/>
          </a:xfrm>
          <a:prstGeom prst="ellipse">
            <a:avLst/>
          </a:prstGeom>
          <a:solidFill>
            <a:srgbClr val="7B7B7B"/>
          </a:solidFill>
        </p:spPr>
      </p:sp>
      <p:pic>
        <p:nvPicPr>
          <p:cNvPr id="6" name="Image 0" descr="https://kimi-img.moonshot.cn/pub/slides/slides_tmpl/image/25-09-04-16:27:02-d2skqlm1bb2p4onbqhh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60036" y="2611051"/>
            <a:ext cx="2608083" cy="26080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1765" y="1922780"/>
            <a:ext cx="3985115" cy="3985115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solidFill>
              <a:srgbClr val="A7A7A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080856" y="5302412"/>
            <a:ext cx="120509" cy="120509"/>
          </a:xfrm>
          <a:prstGeom prst="ellipse">
            <a:avLst/>
          </a:prstGeom>
          <a:solidFill>
            <a:srgbClr val="7B7B7B"/>
          </a:solidFill>
        </p:spPr>
      </p:sp>
      <p:sp>
        <p:nvSpPr>
          <p:cNvPr id="9" name="Text 6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多元变现与IP授权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218055"/>
            <a:ext cx="5848350" cy="36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知识付费新蓝海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" y="2585085"/>
            <a:ext cx="5848350" cy="6601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依托数字人科学家矩阵推出“AI核聚变科普专栏”，用户付费解锁系列课程，平台分成毛利高达70%，打造持续版权现金流。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7280" y="4097655"/>
            <a:ext cx="5848350" cy="36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出海授权放大价值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97280" y="4464685"/>
            <a:ext cx="5848350" cy="6601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多语种数字人授权给海外高校与科技馆，按年收取5-20万美元版权费，同时扩大中国科研国际影响力，实现品牌与收入双赢。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增长路线与全球扩展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5-d2skqme1bb2p4onbqht0.png"/>
          <p:cNvPicPr>
            <a:picLocks noChangeAspect="1"/>
          </p:cNvPicPr>
          <p:nvPr/>
        </p:nvPicPr>
        <p:blipFill>
          <a:blip r:embed="rId1"/>
          <a:srcRect t="113" b="113"/>
          <a:stretch>
            <a:fillRect/>
          </a:stretch>
        </p:blipFill>
        <p:spPr>
          <a:xfrm>
            <a:off x="635" y="1411605"/>
            <a:ext cx="6134400" cy="25304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34735" y="1411605"/>
            <a:ext cx="6056630" cy="2530475"/>
          </a:xfrm>
          <a:prstGeom prst="roundRect">
            <a:avLst>
              <a:gd name="adj" fmla="val 0"/>
            </a:avLst>
          </a:prstGeom>
          <a:solidFill>
            <a:srgbClr val="232323"/>
          </a:solidFill>
        </p:spPr>
      </p:sp>
      <p:pic>
        <p:nvPicPr>
          <p:cNvPr id="4" name="Image 1" descr="https://kimi-img.moonshot.cn/pub/slides/slides_tmpl/image/25-09-04-16:27:03-d2skqlu1bb2p4onbqhm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7465" y="15875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2026运营节奏：点面突破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6580" y="4144010"/>
            <a:ext cx="519874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Q1-Q2立标杆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76580" y="4542790"/>
            <a:ext cx="5119102" cy="9447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集中资源服务Top高校与三甲医院，打磨数字人科学家SOP并申请行业标准，完成首个国家级科研装置可视化案例，形成强背书。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262370" y="1814830"/>
            <a:ext cx="549783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Q3-Q4快速复制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360795" y="2278380"/>
            <a:ext cx="5413375" cy="6601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将AI核聚变引擎推向长三角100家专精特新企业，以SaaS+代运营组合切入，半年内完成从标杆单点到区域面的客户扩张。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360795" y="4144010"/>
            <a:ext cx="5198745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全年占领话语权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360795" y="4542790"/>
            <a:ext cx="5119102" cy="6601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主办“硬科技可视化峰会”，发布白皮书与行业标准，抢占“AI核聚变”品牌制高点，为后续融资与全球化奠定心智与渠道基础。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673860"/>
            <a:ext cx="9906000" cy="4343400"/>
          </a:xfrm>
          <a:prstGeom prst="roundRect">
            <a:avLst>
              <a:gd name="adj" fmla="val 4487"/>
            </a:avLst>
          </a:prstGeom>
          <a:solidFill>
            <a:srgbClr val="000000">
              <a:alpha val="0"/>
            </a:srgbClr>
          </a:solidFill>
          <a:ln w="19050">
            <a:solidFill>
              <a:srgbClr val="2323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1673860"/>
            <a:ext cx="7970520" cy="594360"/>
          </a:xfrm>
          <a:custGeom>
            <a:avLst/>
            <a:gdLst/>
            <a:ahLst/>
            <a:cxnLst/>
            <a:rect l="l" t="t" r="r" b="b"/>
            <a:pathLst>
              <a:path w="7970520" h="594360">
                <a:moveTo>
                  <a:pt x="194945" y="0"/>
                </a:moveTo>
                <a:lnTo>
                  <a:pt x="7673340" y="0"/>
                </a:lnTo>
                <a:cubicBezTo>
                  <a:pt x="7840345" y="-5080"/>
                  <a:pt x="7974330" y="147320"/>
                  <a:pt x="7970520" y="297180"/>
                </a:cubicBezTo>
                <a:cubicBezTo>
                  <a:pt x="7975600" y="464185"/>
                  <a:pt x="7823200" y="598170"/>
                  <a:pt x="7673340" y="594360"/>
                </a:cubicBezTo>
                <a:lnTo>
                  <a:pt x="0" y="594360"/>
                </a:lnTo>
                <a:lnTo>
                  <a:pt x="0" y="194945"/>
                </a:lnTo>
                <a:cubicBezTo>
                  <a:pt x="-3175" y="85725"/>
                  <a:pt x="96520" y="-2540"/>
                  <a:pt x="194945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323"/>
              </a:gs>
              <a:gs pos="100000">
                <a:srgbClr val="919191"/>
              </a:gs>
            </a:gsLst>
            <a:lin ang="5400000" scaled="1"/>
          </a:gradFill>
        </p:spPr>
      </p:sp>
      <p:sp>
        <p:nvSpPr>
          <p:cNvPr id="4" name="Shape 2"/>
          <p:cNvSpPr/>
          <p:nvPr/>
        </p:nvSpPr>
        <p:spPr>
          <a:xfrm flipH="1">
            <a:off x="1143000" y="2260600"/>
            <a:ext cx="9906000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10031730" y="1910080"/>
            <a:ext cx="641350" cy="76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919191"/>
              </a:gs>
            </a:gsLst>
            <a:lin ang="5400000" scaled="1"/>
          </a:gradFill>
        </p:spPr>
      </p:sp>
      <p:sp>
        <p:nvSpPr>
          <p:cNvPr id="6" name="Shape 4"/>
          <p:cNvSpPr/>
          <p:nvPr/>
        </p:nvSpPr>
        <p:spPr>
          <a:xfrm flipV="1">
            <a:off x="9930130" y="1910080"/>
            <a:ext cx="75565" cy="76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919191"/>
              </a:gs>
            </a:gsLst>
            <a:lin ang="5400000" scaled="1"/>
          </a:gradFill>
        </p:spPr>
      </p:sp>
      <p:sp>
        <p:nvSpPr>
          <p:cNvPr id="7" name="Shape 5"/>
          <p:cNvSpPr/>
          <p:nvPr/>
        </p:nvSpPr>
        <p:spPr>
          <a:xfrm flipV="1">
            <a:off x="1143000" y="5818505"/>
            <a:ext cx="9907270" cy="19875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232323"/>
              </a:gs>
              <a:gs pos="100000">
                <a:srgbClr val="5A5A5A"/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2027-2028全球化布局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732405"/>
            <a:ext cx="9086215" cy="462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数字科学院出海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54480" y="3347085"/>
            <a:ext cx="9086215" cy="1737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在新加坡设立国际总部，推出英西阿多语种数字人，三年完成1000位顶尖科学家分身复制，在TikTok/Youtube打造China Tech矩阵，分享广告与品牌合作收益；同时与海外高校、科技馆签约授权，建立永不落幕的“数字科学院”，实现中国科研IP的全球输出与持续版权收入，确立公司作为世界硬科技数字资产管理领导者的地位。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财务预测与融资愿景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2-d2skqlm1bb2p4onbqhhg.png"/>
          <p:cNvPicPr>
            <a:picLocks noChangeAspect="1"/>
          </p:cNvPicPr>
          <p:nvPr/>
        </p:nvPicPr>
        <p:blipFill>
          <a:blip r:embed="rId1"/>
          <a:srcRect l="84" r="84"/>
          <a:stretch>
            <a:fillRect/>
          </a:stretch>
        </p:blipFill>
        <p:spPr>
          <a:xfrm>
            <a:off x="7255510" y="8890"/>
            <a:ext cx="4936490" cy="68402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72350" y="0"/>
            <a:ext cx="1727200" cy="5556885"/>
          </a:xfrm>
          <a:prstGeom prst="parallelogram">
            <a:avLst>
              <a:gd name="adj" fmla="val 84115"/>
            </a:avLst>
          </a:prstGeom>
          <a:solidFill>
            <a:srgbClr val="232323"/>
          </a:solidFill>
        </p:spPr>
      </p:sp>
      <p:sp>
        <p:nvSpPr>
          <p:cNvPr id="4" name="Shape 1"/>
          <p:cNvSpPr/>
          <p:nvPr/>
        </p:nvSpPr>
        <p:spPr>
          <a:xfrm>
            <a:off x="7168515" y="2509520"/>
            <a:ext cx="1377950" cy="4348480"/>
          </a:xfrm>
          <a:prstGeom prst="parallelogram">
            <a:avLst>
              <a:gd name="adj" fmla="val 82610"/>
            </a:avLst>
          </a:prstGeom>
          <a:gradFill flip="none" rotWithShape="1">
            <a:gsLst>
              <a:gs pos="0">
                <a:srgbClr val="EBEBEB"/>
              </a:gs>
              <a:gs pos="30000">
                <a:srgbClr val="EBEBEB"/>
              </a:gs>
              <a:gs pos="100000">
                <a:srgbClr val="EBEBEB">
                  <a:alpha val="60000"/>
                </a:srgbClr>
              </a:gs>
            </a:gsLst>
            <a:lin ang="0" scaled="1"/>
          </a:gradFill>
        </p:spPr>
      </p:sp>
      <p:sp>
        <p:nvSpPr>
          <p:cNvPr id="5" name="Text 2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三年营收与利润爬坡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32205" y="1721485"/>
            <a:ext cx="478790" cy="478790"/>
          </a:xfrm>
          <a:prstGeom prst="roundRect">
            <a:avLst>
              <a:gd name="adj" fmla="val 10363"/>
            </a:avLst>
          </a:prstGeom>
          <a:solidFill>
            <a:srgbClr val="232323"/>
          </a:solidFill>
        </p:spPr>
      </p:sp>
      <p:sp>
        <p:nvSpPr>
          <p:cNvPr id="8" name="Text 4"/>
          <p:cNvSpPr/>
          <p:nvPr/>
        </p:nvSpPr>
        <p:spPr>
          <a:xfrm>
            <a:off x="1132205" y="1721485"/>
            <a:ext cx="478790" cy="4787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2275205"/>
            <a:ext cx="5848350" cy="36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收入阶梯式跃升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2642235"/>
            <a:ext cx="5848350" cy="6601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2026年1500万、2027年3500万、2028年6000万，CAGR&gt;100%，其中SaaS与版权占比逐年提升至45%，收入结构更稳健。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2205" y="3924935"/>
            <a:ext cx="478790" cy="478790"/>
          </a:xfrm>
          <a:prstGeom prst="roundRect">
            <a:avLst>
              <a:gd name="adj" fmla="val 10363"/>
            </a:avLst>
          </a:prstGeom>
          <a:solidFill>
            <a:srgbClr val="232323"/>
          </a:solidFill>
        </p:spPr>
      </p:sp>
      <p:sp>
        <p:nvSpPr>
          <p:cNvPr id="12" name="Text 8"/>
          <p:cNvSpPr/>
          <p:nvPr/>
        </p:nvSpPr>
        <p:spPr>
          <a:xfrm>
            <a:off x="1132205" y="3924935"/>
            <a:ext cx="478790" cy="4787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97280" y="4478655"/>
            <a:ext cx="5848350" cy="36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利润率持续优化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97280" y="4845685"/>
            <a:ext cx="5848350" cy="6601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随着知识库复用与算力集约，毛利率由55%升至65%，净利润率突破35%，为投资者提供高速且健康的现金回报。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1800"/>
            <a:ext cx="12194540" cy="76200"/>
          </a:xfrm>
          <a:prstGeom prst="rect">
            <a:avLst/>
          </a:prstGeom>
          <a:solidFill>
            <a:srgbClr val="1C1A1B"/>
          </a:solidFill>
        </p:spPr>
      </p:sp>
      <p:pic>
        <p:nvPicPr>
          <p:cNvPr id="3" name="Image 0" descr="https://kimi-img.moonshot.cn/pub/slides/slides_tmpl/image/25-09-04-16:27:05-d2skqme1bb2p4onbqhs0.png"/>
          <p:cNvPicPr>
            <a:picLocks noChangeAspect="1"/>
          </p:cNvPicPr>
          <p:nvPr/>
        </p:nvPicPr>
        <p:blipFill>
          <a:blip r:embed="rId1"/>
          <a:srcRect l="97" r="97"/>
          <a:stretch>
            <a:fillRect/>
          </a:stretch>
        </p:blipFill>
        <p:spPr>
          <a:xfrm>
            <a:off x="6181090" y="1589405"/>
            <a:ext cx="2622550" cy="182181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6:27:05-d2skqme1bb2p4onbqhqg.png"/>
          <p:cNvPicPr>
            <a:picLocks noChangeAspect="1"/>
          </p:cNvPicPr>
          <p:nvPr/>
        </p:nvPicPr>
        <p:blipFill>
          <a:blip r:embed="rId2"/>
          <a:srcRect l="96" r="120"/>
          <a:stretch>
            <a:fillRect/>
          </a:stretch>
        </p:blipFill>
        <p:spPr>
          <a:xfrm>
            <a:off x="3407410" y="1589405"/>
            <a:ext cx="2639695" cy="18218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6:27:05-d2skqme1bb2p4onbqhr0.png"/>
          <p:cNvPicPr>
            <a:picLocks noChangeAspect="1"/>
          </p:cNvPicPr>
          <p:nvPr/>
        </p:nvPicPr>
        <p:blipFill>
          <a:blip r:embed="rId3"/>
          <a:srcRect l="96" r="120"/>
          <a:stretch>
            <a:fillRect/>
          </a:stretch>
        </p:blipFill>
        <p:spPr>
          <a:xfrm>
            <a:off x="641350" y="1589405"/>
            <a:ext cx="2639695" cy="18218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6:27:05-d2skqme1bb2p4onbqhrg.png"/>
          <p:cNvPicPr>
            <a:picLocks noChangeAspect="1"/>
          </p:cNvPicPr>
          <p:nvPr/>
        </p:nvPicPr>
        <p:blipFill>
          <a:blip r:embed="rId4"/>
          <a:srcRect l="96" r="120"/>
          <a:stretch>
            <a:fillRect/>
          </a:stretch>
        </p:blipFill>
        <p:spPr>
          <a:xfrm>
            <a:off x="8938260" y="1589405"/>
            <a:ext cx="2639695" cy="18218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8060" y="5137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融资用途与愿景升级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8942" y="580481"/>
            <a:ext cx="533400" cy="3683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41985" y="3475355"/>
            <a:ext cx="263906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知识库扩建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641985" y="4137025"/>
            <a:ext cx="2639060" cy="1199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投入1000万用于多模态知识库与3D模型资产扩充，确保内容权威领先，并构建对手难以复制的数据壁垒。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407410" y="3475355"/>
            <a:ext cx="263906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海外合规与品牌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3407410" y="4137025"/>
            <a:ext cx="2639060" cy="1199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800万用于新加坡总部、海外合规认证及TikTok/Youtube品牌投放，快速获取国际客户与科学家IP资源。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172835" y="3475355"/>
            <a:ext cx="263906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高端人才招募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172835" y="4137025"/>
            <a:ext cx="2639060" cy="1199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700万用于引进AI多模态、海外版权运营及医学可视化专家，打造世界级科研+商业复合团队。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938260" y="3475355"/>
            <a:ext cx="263906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算力集群扩容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938260" y="4137025"/>
            <a:ext cx="2639060" cy="1199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500万扩建GPU集群，支持1000位数字人并发渲染与实时交互，保障全球化业务放量后的技术底座。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514475"/>
            <a:ext cx="4189095" cy="37725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竞争优势与结语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4165" y="1945640"/>
            <a:ext cx="3390265" cy="1204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590" y="-24765"/>
            <a:ext cx="12202160" cy="6899275"/>
          </a:xfrm>
          <a:prstGeom prst="rect">
            <a:avLst/>
          </a:prstGeom>
          <a:solidFill>
            <a:srgbClr val="232323"/>
          </a:solidFill>
        </p:spPr>
      </p:sp>
      <p:pic>
        <p:nvPicPr>
          <p:cNvPr id="3" name="Image 0" descr="https://kimi-img.moonshot.cn/pub/slides/slides_tmpl/image/25-09-04-16:27:00-d2skql61bb2p4onbqhbg.png"/>
          <p:cNvPicPr>
            <a:picLocks noChangeAspect="1"/>
          </p:cNvPicPr>
          <p:nvPr/>
        </p:nvPicPr>
        <p:blipFill>
          <a:blip r:embed="rId1"/>
          <a:srcRect l="24693"/>
          <a:stretch>
            <a:fillRect/>
          </a:stretch>
        </p:blipFill>
        <p:spPr>
          <a:xfrm>
            <a:off x="-23495" y="1814195"/>
            <a:ext cx="3154680" cy="377253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6:27:03-d2skqlu1bb2p4onbqhi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7830" y="663257"/>
            <a:ext cx="533400" cy="36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8695" y="596265"/>
            <a:ext cx="6344285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无法复制的三重护城河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919095" y="2011045"/>
            <a:ext cx="2711450" cy="462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919095" y="2470150"/>
            <a:ext cx="271145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懂科学的AI团队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954453" y="3238500"/>
            <a:ext cx="2669526" cy="1229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核心成员来自中科大、中科院，能读懂核聚变、单抗、信创系统，复杂技术消化力是娱乐MCN无法跨越的第一道墙。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58205" y="2011045"/>
            <a:ext cx="2711450" cy="462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958205" y="2470150"/>
            <a:ext cx="271145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极致性价比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993563" y="3238500"/>
            <a:ext cx="2669526" cy="1229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9.9元视频成本与65%毛利率形成双向挤压，传统广告公司及SaaS厂商难以在价格与质量上同时竞争。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027795" y="2011045"/>
            <a:ext cx="2711450" cy="462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997315" y="2470150"/>
            <a:ext cx="271145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全域媒体覆盖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032673" y="3238500"/>
            <a:ext cx="2669526" cy="1229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从私域视频号到公域抖音再到海外TikTok提供一站式投放，客户无需多头对接，形成锁定式平台效应。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260" y="1929130"/>
            <a:ext cx="4984750" cy="3945255"/>
          </a:xfrm>
          <a:custGeom>
            <a:avLst/>
            <a:gdLst/>
            <a:ahLst/>
            <a:cxnLst/>
            <a:rect l="l" t="t" r="r" b="b"/>
            <a:pathLst>
              <a:path w="4984750" h="3945255">
                <a:moveTo>
                  <a:pt x="0" y="0"/>
                </a:moveTo>
                <a:lnTo>
                  <a:pt x="4984750" y="0"/>
                </a:lnTo>
                <a:lnTo>
                  <a:pt x="4117340" y="3945255"/>
                </a:lnTo>
                <a:lnTo>
                  <a:pt x="0" y="3945255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381000">
            <a:solidFill>
              <a:srgbClr val="2323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00420" y="1929130"/>
            <a:ext cx="4963795" cy="3945255"/>
          </a:xfrm>
          <a:custGeom>
            <a:avLst/>
            <a:gdLst/>
            <a:ahLst/>
            <a:cxnLst/>
            <a:rect l="l" t="t" r="r" b="b"/>
            <a:pathLst>
              <a:path w="4963795" h="3945255">
                <a:moveTo>
                  <a:pt x="867410" y="0"/>
                </a:moveTo>
                <a:lnTo>
                  <a:pt x="4963795" y="0"/>
                </a:lnTo>
                <a:lnTo>
                  <a:pt x="4963795" y="3945255"/>
                </a:lnTo>
                <a:lnTo>
                  <a:pt x="0" y="3945255"/>
                </a:lnTo>
                <a:lnTo>
                  <a:pt x="867410" y="0"/>
                </a:lnTo>
                <a:close/>
              </a:path>
            </a:pathLst>
          </a:custGeom>
          <a:solidFill>
            <a:srgbClr val="EBEBEB"/>
          </a:solidFill>
          <a:ln w="381000">
            <a:solidFill>
              <a:srgbClr val="EBE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8060" y="704215"/>
            <a:ext cx="10534650" cy="5839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11111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让科学被世界看见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9-04-16:27:00-d2skql61bb2p4onbqh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28942" y="770420"/>
            <a:ext cx="533400" cy="368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9370" y="2255520"/>
            <a:ext cx="4935220" cy="37107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共创数字科学院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09370" y="2900680"/>
            <a:ext cx="4190281" cy="12342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诚邀资本与科研机构携手，三年内复制1000位顶尖科学家数字分身，建立永不落幕的线上科学院，推动科学知识普惠。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69940" y="2255520"/>
            <a:ext cx="4935220" cy="37107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点燃全球科技火种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879" y="2900680"/>
            <a:ext cx="4190281" cy="12342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以AI核聚变之力引爆中国科技传播能量场，让高深科学在世界舞台持续发光，实现“让科学流行起来”的时代使命。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5320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9391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3010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15068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0700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207454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8" name="Image 0" descr="https://kimi-img.moonshot.cn/pub/slides/slides_tmpl/image/25-09-04-16:27:05-d2skqme1bb2p4onbqi10.png"/>
          <p:cNvPicPr>
            <a:picLocks noChangeAspect="1"/>
          </p:cNvPicPr>
          <p:nvPr/>
        </p:nvPicPr>
        <p:blipFill>
          <a:blip r:embed="rId1"/>
          <a:srcRect l="17548" r="23949" b="14559"/>
          <a:stretch>
            <a:fillRect/>
          </a:stretch>
        </p:blipFill>
        <p:spPr>
          <a:xfrm rot="16200000">
            <a:off x="5955983" y="612140"/>
            <a:ext cx="6848475" cy="5623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5320" y="2224405"/>
            <a:ext cx="7026275" cy="13261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8670" y="3585845"/>
            <a:ext cx="5954395" cy="462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84740" y="4353560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730885" y="4377690"/>
            <a:ext cx="247777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汇报人:常云举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84740" y="5120640"/>
            <a:ext cx="2170059" cy="4464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730885" y="5144770"/>
            <a:ext cx="2477770" cy="398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3232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微信:19966519194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4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5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6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7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8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9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0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1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2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3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4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5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6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7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8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19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0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1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2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3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4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5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6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7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8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29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0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1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2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3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4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5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6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7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8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39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40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41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42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43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ags/tag44.xml><?xml version="1.0" encoding="utf-8"?>
<p:tagLst xmlns:p="http://schemas.openxmlformats.org/presentationml/2006/main">
  <p:tag name="KSO_WM_DIAGRAM_VIRTUALLY_FRAME" val="{&quot;height&quot;:443.75,&quot;left&quot;:449.25,&quot;top&quot;:45.3,&quot;width&quot;:446.0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WPS 演示</Application>
  <PresentationFormat>On-screen Show (16:9)</PresentationFormat>
  <Paragraphs>314</Paragraphs>
  <Slides>29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宋体</vt:lpstr>
      <vt:lpstr>Wingdings</vt:lpstr>
      <vt:lpstr>MiSans</vt:lpstr>
      <vt:lpstr>MiSans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AI核聚变：数字人科学家引爆硬科技传播</dc:title>
  <dc:creator>Kimi</dc:creator>
  <dc:subject>AI核聚变：数字人科学家引爆硬科技传播</dc:subject>
  <cp:lastModifiedBy>赵美玲</cp:lastModifiedBy>
  <cp:revision>3</cp:revision>
  <dcterms:created xsi:type="dcterms:W3CDTF">2026-01-22T08:15:00Z</dcterms:created>
  <dcterms:modified xsi:type="dcterms:W3CDTF">2026-01-22T09:18:35Z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核聚变：数字人科学家引爆硬科技传播","ContentProducer":"001191110108MACG2KBH8F10000","ProduceID":"19be4b83-ae42-8ad7-8000-00008bfcdf6a","ReservedCode1":"","ContentPropagator":"001191110108MACG2KBH8F20000","PropagateID":"19be4b83-ae42-8ad7-8000-00008bfcdf6a","ReservedCode2":""}</vt:lpwstr>
  </property>
  <property fmtid="{D5CDD505-2E9C-101B-9397-08002B2CF9AE}" pid="3" name="ICV">
    <vt:lpwstr>CF1E68F906D54FAA8A07299CBCCE5DE2_13</vt:lpwstr>
  </property>
  <property fmtid="{D5CDD505-2E9C-101B-9397-08002B2CF9AE}" pid="4" name="KSOProductBuildVer">
    <vt:lpwstr>2052-12.1.0.24034</vt:lpwstr>
  </property>
</Properties>
</file>